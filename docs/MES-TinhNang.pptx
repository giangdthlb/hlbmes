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-1280160"/>
            <a:ext cx="3108960" cy="3108960"/>
          </a:xfrm>
          <a:prstGeom prst="ellipse">
            <a:avLst/>
          </a:prstGeom>
          <a:solidFill>
            <a:srgbClr val="161D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4937760"/>
            <a:ext cx="2926080" cy="2926080"/>
          </a:xfrm>
          <a:prstGeom prst="ellipse">
            <a:avLst/>
          </a:prstGeom>
          <a:solidFill>
            <a:srgbClr val="161D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00"/>
                </a:solidFill>
                <a:latin typeface="Calibri"/>
              </a:rPr>
              <a:t>🍺 MES BIA HẠ LONG · NHÀ MÁY ĐÔNG MAI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607040" cy="18288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Cambria"/>
              </a:rPr>
              <a:t>Danh sách Tính năng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977639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CADCFC"/>
                </a:solidFill>
                <a:latin typeface="Calibri"/>
              </a:rPr>
              <a:t>Toàn bộ năng lực phần mềm theo phân hệ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800600"/>
            <a:ext cx="2377440" cy="5486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Danh sách Tính năng  ·  Phiên bản 0.1.0-mvp  ·  Cập nhật 25/07/2026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MỘT CÁI NHÌN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Phạm vi phần mềm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2606040" cy="155448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38528"/>
            <a:ext cx="26060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1E2761"/>
                </a:solidFill>
                <a:latin typeface="Cambria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61488"/>
            <a:ext cx="242316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A6372"/>
                </a:solidFill>
                <a:latin typeface="Calibri"/>
              </a:rPr>
              <a:t>router REST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737360"/>
            <a:ext cx="2606040" cy="155448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938528"/>
            <a:ext cx="26060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028090"/>
                </a:solidFill>
                <a:latin typeface="Cambria"/>
              </a:rPr>
              <a:t>~379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761488"/>
            <a:ext cx="242316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A6372"/>
                </a:solidFill>
                <a:latin typeface="Calibri"/>
              </a:rPr>
              <a:t>endpoint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737360"/>
            <a:ext cx="2606040" cy="155448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38528"/>
            <a:ext cx="26060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00A896"/>
                </a:solidFill>
                <a:latin typeface="Cambria"/>
              </a:rPr>
              <a:t>~100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761488"/>
            <a:ext cx="242316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A6372"/>
                </a:solidFill>
                <a:latin typeface="Calibri"/>
              </a:rPr>
              <a:t>lớp dữ liệu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1737360"/>
            <a:ext cx="2606040" cy="155448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1938528"/>
            <a:ext cx="26060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A900"/>
                </a:solidFill>
                <a:latin typeface="Cambria"/>
              </a:rPr>
              <a:t>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761488"/>
            <a:ext cx="242316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A6372"/>
                </a:solidFill>
                <a:latin typeface="Calibri"/>
              </a:rPr>
              <a:t>nhóm tính năng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20440"/>
            <a:ext cx="2606040" cy="155448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721608"/>
            <a:ext cx="26060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028090"/>
                </a:solidFill>
                <a:latin typeface="Cambria"/>
              </a:rPr>
              <a:t>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44568"/>
            <a:ext cx="242316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A6372"/>
                </a:solidFill>
                <a:latin typeface="Calibri"/>
              </a:rPr>
              <a:t>service nghiệp vụ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3520440"/>
            <a:ext cx="2606040" cy="155448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7560" y="3721608"/>
            <a:ext cx="26060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1E2761"/>
                </a:solidFill>
                <a:latin typeface="Cambria"/>
              </a:rPr>
              <a:t>13/13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544568"/>
            <a:ext cx="242316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A6372"/>
                </a:solidFill>
                <a:latin typeface="Calibri"/>
              </a:rPr>
              <a:t>phân hệ hardcore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520440"/>
            <a:ext cx="2606040" cy="155448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3721608"/>
            <a:ext cx="26060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00A896"/>
                </a:solidFill>
                <a:latin typeface="Cambria"/>
              </a:rPr>
              <a:t>57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544568"/>
            <a:ext cx="242316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A6372"/>
                </a:solidFill>
                <a:latin typeface="Calibri"/>
              </a:rPr>
              <a:t>file test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15400" y="3520440"/>
            <a:ext cx="2606040" cy="155448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5400" y="3721608"/>
            <a:ext cx="26060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A900"/>
                </a:solidFill>
                <a:latin typeface="Cambri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4544568"/>
            <a:ext cx="242316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A6372"/>
                </a:solidFill>
                <a:latin typeface="Calibri"/>
              </a:rPr>
              <a:t>vai trò + 21 quyền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1">
                <a:solidFill>
                  <a:srgbClr val="5A6372"/>
                </a:solidFill>
                <a:latin typeface="Calibri"/>
              </a:rPr>
              <a:t>Mỗi tính năng đều có endpoint API và quyền yêu cầu rõ ràng — chi tiết trong tài liệu Danh sách Tính năng.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TỪ LỆNH ĐẾN MẺ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Phân hệ sản xuất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529584" cy="429768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80136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764792"/>
            <a:ext cx="2615184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Lệnh &amp; điều độ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50008"/>
            <a:ext cx="3072384" cy="34290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Tạo lệnh ERP (PO)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Work Order ngày/ca/line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Lệnh nấu/lọc phân cấp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   (cha → nhiều lệnh con)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Hoàn thành theo thể tích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Lập lịch Gantt tối ưu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600200"/>
            <a:ext cx="3529584" cy="429768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26280" y="180136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02352" y="1764792"/>
            <a:ext cx="2615184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Công thức &amp; BOM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144" y="2350008"/>
            <a:ext cx="3072384" cy="34290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Version + workflow duyệt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BOM scale theo mẻ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Dung sai ± %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Kiểm tra tồn trước mẻ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NVL thay thế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Yield theo công đoạn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Change-control e-sign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600200"/>
            <a:ext cx="3529584" cy="429768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02752" y="1801368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78824" y="1764792"/>
            <a:ext cx="2615184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Mẻ &amp; ISA-88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5" y="2350008"/>
            <a:ext cx="3072384" cy="34290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Snapshot recipe bất biến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State machine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Consume / produce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Đường cong lên men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Đối chiếu BOM↔thực tế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Phase nấu/lên men/lọc/CIP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QA / QC / LIMS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Chất lượng &amp; phòng Lab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440680" cy="420624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80136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764792"/>
            <a:ext cx="452628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Chất lượng cơ bản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50008"/>
            <a:ext cx="4983480" cy="3337559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Ghi kết quả QC (PASS/FAIL số học)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FAIL → tự động ON HOLD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Hold / Release (quyền QA)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Release chặn nếu còn FAIL chưa đóng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Deviation workflow open → closed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00200"/>
            <a:ext cx="5440680" cy="420624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73368" y="180136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764792"/>
            <a:ext cx="452628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QC Lab nâng cao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350008"/>
            <a:ext cx="4983480" cy="3337559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SPC control chart I-MR (UCL/LCL)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Luật Western Electric · Cp/Cpk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CAPA: khắc phục / phòng ngừa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COA — phiếu phân tích cho mẻ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LIMS-lite: đăng ký → test → xong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NVL · THÀNH PHẨM · BAO BÌ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Kho &amp; Logistics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529584" cy="420624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80136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764792"/>
            <a:ext cx="2615184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Kho NVL — 2 địa điểm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50008"/>
            <a:ext cx="3072384" cy="3337559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 i="0">
                <a:solidFill>
                  <a:srgbClr val="222A3A"/>
                </a:solidFill>
                <a:latin typeface="Calibri"/>
              </a:rPr>
              <a:t>Kho công ty ↔ Kho phân xưởng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 i="0">
                <a:solidFill>
                  <a:srgbClr val="222A3A"/>
                </a:solidFill>
                <a:latin typeface="Calibri"/>
              </a:rPr>
              <a:t>Đề nghị nhận kho (FIFO)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 i="0">
                <a:solidFill>
                  <a:srgbClr val="222A3A"/>
                </a:solidFill>
                <a:latin typeface="Calibri"/>
              </a:rPr>
              <a:t>Kiểm kê định kỳ + duyệt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 i="0">
                <a:solidFill>
                  <a:srgbClr val="222A3A"/>
                </a:solidFill>
                <a:latin typeface="Calibri"/>
              </a:rPr>
              <a:t>Sổ cái bất biến + hoàn tác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 i="0">
                <a:solidFill>
                  <a:srgbClr val="222A3A"/>
                </a:solidFill>
                <a:latin typeface="Calibri"/>
              </a:rPr>
              <a:t>Cảnh báo tồn tối thiểu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 i="0">
                <a:solidFill>
                  <a:srgbClr val="222A3A"/>
                </a:solidFill>
                <a:latin typeface="Calibri"/>
              </a:rPr>
              <a:t>Lịch sử dùng NVL theo mẻ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600200"/>
            <a:ext cx="3529584" cy="420624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26280" y="180136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02352" y="1764792"/>
            <a:ext cx="2615184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Kho TP (WMS theo LÔ)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144" y="2350008"/>
            <a:ext cx="3072384" cy="3337559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 i="0">
                <a:solidFill>
                  <a:srgbClr val="222A3A"/>
                </a:solidFill>
                <a:latin typeface="Calibri"/>
              </a:rPr>
              <a:t>1 dòng/lô — không còn 1 dòng/vỉ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 i="0">
                <a:solidFill>
                  <a:srgbClr val="222A3A"/>
                </a:solidFill>
                <a:latin typeface="Calibri"/>
              </a:rPr>
              <a:t>Cất vị trí / điều chuyển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 i="0">
                <a:solidFill>
                  <a:srgbClr val="222A3A"/>
                </a:solidFill>
                <a:latin typeface="Calibri"/>
              </a:rPr>
              <a:t>Phân rã &amp; gộp theo lô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 i="0">
                <a:solidFill>
                  <a:srgbClr val="222A3A"/>
                </a:solidFill>
                <a:latin typeface="Calibri"/>
              </a:rPr>
              <a:t>Bia cận date + Xuất tự do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 i="0">
                <a:solidFill>
                  <a:srgbClr val="222A3A"/>
                </a:solidFill>
                <a:latin typeface="Calibri"/>
              </a:rPr>
              <a:t>Lệnh đóng hàng (import Excel)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 i="0">
                <a:solidFill>
                  <a:srgbClr val="222A3A"/>
                </a:solidFill>
                <a:latin typeface="Calibri"/>
              </a:rPr>
              <a:t>Xuất kho FIFO theo loại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600200"/>
            <a:ext cx="3529584" cy="420624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02752" y="1801368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78824" y="1764792"/>
            <a:ext cx="2615184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Bao bì tuần hoàn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5" y="2350008"/>
            <a:ext cx="3072384" cy="3337559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Vỏ chai / két-gông / keg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Tồn + lưu hành ngoài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Tiền cược (deposit)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Biến động: nhập/xuất/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   thu hồi/loại bỏ/kiểm kê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Chặn kiểm kê âm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OEE · CMMS · NĂNG LƯỢNG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Thiết bị &amp; hiệu suất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529584" cy="420624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80136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764792"/>
            <a:ext cx="2615184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OEE &amp; dừng máy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50008"/>
            <a:ext cx="3072384" cy="3337559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OEE = A × P × Q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Gauge + phân rã A/P/Q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Cây lý do dừng máy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Pareto + % tích lũy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6 big losses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MTBF / MTTR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600200"/>
            <a:ext cx="3529584" cy="420624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26280" y="180136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02352" y="1764792"/>
            <a:ext cx="2615184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Bảo trì &amp; kiểm định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144" y="2350008"/>
            <a:ext cx="3072384" cy="3337559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Thiết bị + phụ tùng (tồn min)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Sự cố + xử lý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Kế hoạch (tự đánh dấu quá hạn)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Kiểm định valid/due/overdue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Phóng xạ, van an toàn,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   hiệu chuẩn TBĐ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600200"/>
            <a:ext cx="3529584" cy="420624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02752" y="1801368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78824" y="1764792"/>
            <a:ext cx="2615184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Năng lượng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5" y="2350008"/>
            <a:ext cx="3072384" cy="3337559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Nhóm: điện/nước/hơi/khí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Số đọc ngày (upsert)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Biểu đồ ngày theo nhóm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Tổng hợp tháng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Theo khu vực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Truy xuất, hồ sơ &amp; toàn vẹn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529584" cy="420624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80136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764792"/>
            <a:ext cx="2615184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Truy xuất &amp; 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50008"/>
            <a:ext cx="3072384" cy="3337559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Truy ngược TP → NVL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Truy xuôi NVL → TP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Recall simulation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Đồ thị genealogy có hướng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Đếm lô ảnh hưởng + 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600200"/>
            <a:ext cx="3529584" cy="420624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26280" y="180136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02352" y="1764792"/>
            <a:ext cx="2615184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EBR &amp; e-signature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144" y="2350008"/>
            <a:ext cx="3072384" cy="3337559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Dossier step-by-step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Timeline thao tác từ audit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BOM / QC / deviation / men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Ký điện tử re-auth (Part 11)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Khóa → mẻ bất biến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600200"/>
            <a:ext cx="3529584" cy="420624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02752" y="1801368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78824" y="1764792"/>
            <a:ext cx="2615184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Audit bất biến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5" y="2350008"/>
            <a:ext cx="3072384" cy="3337559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Append-only (không sửa/xóa)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hash-chain tamper-evident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verify-chain phát hiện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   giả mạo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seq UNIQUE chống race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AI, tích hợp &amp; nền tảng số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529584" cy="420624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0136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764792"/>
            <a:ext cx="2615184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Trợ lý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50008"/>
            <a:ext cx="3072384" cy="3337559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Chat có bộ nhớ + streaming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AI insights (cảnh báo ưu tiên)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8 tool MES read-only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Manifest cho AI agent/MCP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Tác vụ nền (job)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600200"/>
            <a:ext cx="3529584" cy="420624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26280" y="180136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02352" y="1764792"/>
            <a:ext cx="2615184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Cổng tích hợp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2350008"/>
            <a:ext cx="3072384" cy="3337559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API mở /api/v1 (X-API-Key)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Feed + nhận sự kiện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Quản lý API key (scope)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Webhook (HMAC secret)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3" y="1600200"/>
            <a:ext cx="3529584" cy="420624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02752" y="1801368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78824" y="1764792"/>
            <a:ext cx="2615184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Realtime SCADA thật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5" y="2350008"/>
            <a:ext cx="3072384" cy="3337559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 i="0">
                <a:solidFill>
                  <a:srgbClr val="222A3A"/>
                </a:solidFill>
                <a:latin typeface="Calibri"/>
              </a:rPr>
              <a:t>Đọc trực tiếp CSDL WinCC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 i="0">
                <a:solidFill>
                  <a:srgbClr val="222A3A"/>
                </a:solidFill>
                <a:latin typeface="Calibri"/>
              </a:rPr>
              <a:t>   ngoài (WAN), chỉ SELECT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 i="0">
                <a:solidFill>
                  <a:srgbClr val="222A3A"/>
                </a:solidFill>
                <a:latin typeface="Calibri"/>
              </a:rPr>
              <a:t>Máy chiết 30K + trạm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 i="0">
                <a:solidFill>
                  <a:srgbClr val="222A3A"/>
                </a:solidFill>
                <a:latin typeface="Calibri"/>
              </a:rPr>
              <a:t>   quan trắc nước thải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 i="0">
                <a:solidFill>
                  <a:srgbClr val="222A3A"/>
                </a:solidFill>
                <a:latin typeface="Calibri"/>
              </a:rPr>
              <a:t>Tự làm mới 15s + tự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 i="0">
                <a:solidFill>
                  <a:srgbClr val="222A3A"/>
                </a:solidFill>
                <a:latin typeface="Calibri"/>
              </a:rPr>
              <a:t>   thử lại kết nối lỗi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13 / 13 phân hệ MES hardcore — hoàn thành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783080"/>
            <a:ext cx="420624" cy="42062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1E2761"/>
                </a:solidFill>
                <a:latin typeface="Calibr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783080"/>
            <a:ext cx="4754880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Lệnh &amp; điều độ</a:t>
            </a:r>
          </a:p>
        </p:txBody>
      </p:sp>
      <p:sp>
        <p:nvSpPr>
          <p:cNvPr id="6" name="Oval 5"/>
          <p:cNvSpPr/>
          <p:nvPr/>
        </p:nvSpPr>
        <p:spPr>
          <a:xfrm>
            <a:off x="6217920" y="1783080"/>
            <a:ext cx="420624" cy="420624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1E2761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59" y="1783080"/>
            <a:ext cx="4754880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EBR điện tử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459736"/>
            <a:ext cx="420624" cy="42062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1E2761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459736"/>
            <a:ext cx="4754880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Recipe/BOM nâng cao</a:t>
            </a:r>
          </a:p>
        </p:txBody>
      </p:sp>
      <p:sp>
        <p:nvSpPr>
          <p:cNvPr id="10" name="Oval 9"/>
          <p:cNvSpPr/>
          <p:nvPr/>
        </p:nvSpPr>
        <p:spPr>
          <a:xfrm>
            <a:off x="6217920" y="2459736"/>
            <a:ext cx="420624" cy="420624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1E2761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59" y="2459736"/>
            <a:ext cx="4754880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Tích hợp thiết bị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136391"/>
            <a:ext cx="420624" cy="42062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1E2761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136391"/>
            <a:ext cx="4754880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Historian/time-series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3136391"/>
            <a:ext cx="420624" cy="420624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1E2761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59" y="3136391"/>
            <a:ext cx="4754880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Material consumption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813048"/>
            <a:ext cx="420624" cy="42062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1E2761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813048"/>
            <a:ext cx="4754880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Quality hardcore (SPC)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813048"/>
            <a:ext cx="420624" cy="420624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1E2761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59" y="3813048"/>
            <a:ext cx="4754880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OEE/downtime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4489704"/>
            <a:ext cx="420624" cy="42062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1E2761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489704"/>
            <a:ext cx="4754880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Barcode/RFID/kiosk</a:t>
            </a:r>
          </a:p>
        </p:txBody>
      </p:sp>
      <p:sp>
        <p:nvSpPr>
          <p:cNvPr id="22" name="Oval 21"/>
          <p:cNvSpPr/>
          <p:nvPr/>
        </p:nvSpPr>
        <p:spPr>
          <a:xfrm>
            <a:off x="6217920" y="4489704"/>
            <a:ext cx="420624" cy="420624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1E2761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59" y="4489704"/>
            <a:ext cx="4754880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Phân quyền sâu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5166360"/>
            <a:ext cx="420624" cy="42062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1E2761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166360"/>
            <a:ext cx="4754880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E-sign &amp; audit bất biến</a:t>
            </a:r>
          </a:p>
        </p:txBody>
      </p:sp>
      <p:sp>
        <p:nvSpPr>
          <p:cNvPr id="26" name="Oval 25"/>
          <p:cNvSpPr/>
          <p:nvPr/>
        </p:nvSpPr>
        <p:spPr>
          <a:xfrm>
            <a:off x="6217920" y="5166360"/>
            <a:ext cx="420624" cy="420624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1E2761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59" y="5166360"/>
            <a:ext cx="4754880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Kiến trúc production</a:t>
            </a:r>
          </a:p>
        </p:txBody>
      </p:sp>
      <p:sp>
        <p:nvSpPr>
          <p:cNvPr id="28" name="Oval 27"/>
          <p:cNvSpPr/>
          <p:nvPr/>
        </p:nvSpPr>
        <p:spPr>
          <a:xfrm>
            <a:off x="731520" y="5843016"/>
            <a:ext cx="420624" cy="42062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1E2761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843016"/>
            <a:ext cx="4754880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ISA-88 / LIMS / WMS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