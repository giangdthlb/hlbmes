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280160"/>
            <a:ext cx="3108960" cy="310896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937760"/>
            <a:ext cx="2926080" cy="2926080"/>
          </a:xfrm>
          <a:prstGeom prst="ellipse">
            <a:avLst/>
          </a:prstGeom>
          <a:solidFill>
            <a:srgbClr val="16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Calibri"/>
              </a:rPr>
              <a:t>🍺 MES BIA HẠ LONG · NHÀ MÁY ĐÔNG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1828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Danh sách Tính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Toàn bộ năng lực phần mềm theo phân hệ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800600"/>
            <a:ext cx="2377440" cy="548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Danh sách Tính năng  ·  Phiên bản 0.1.0-mvp  ·  Tài liệu hướng dẫn nội bộ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MỘT CÁI NHÌN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Phạm vi phần mềm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E2761"/>
                </a:solidFill>
                <a:latin typeface="Cambria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router 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28090"/>
                </a:solidFill>
                <a:latin typeface="Cambria"/>
              </a:rPr>
              <a:t>~379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endpoint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0A896"/>
                </a:solidFill>
                <a:latin typeface="Cambria"/>
              </a:rPr>
              <a:t>~100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lớp dữ liệu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73736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3852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A900"/>
                </a:solidFill>
                <a:latin typeface="Cambria"/>
              </a:rPr>
              <a:t>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76148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nhóm tính năng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28090"/>
                </a:solidFill>
                <a:latin typeface="Cambria"/>
              </a:rP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service nghiệp vụ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E2761"/>
                </a:solidFill>
                <a:latin typeface="Cambria"/>
              </a:rPr>
              <a:t>13/13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phân hệ hardcore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0A896"/>
                </a:solidFill>
                <a:latin typeface="Cambria"/>
              </a:rP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file test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520440"/>
            <a:ext cx="2606040" cy="15544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721608"/>
            <a:ext cx="26060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A900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4544568"/>
            <a:ext cx="2423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5A6372"/>
                </a:solidFill>
                <a:latin typeface="Calibri"/>
              </a:rPr>
              <a:t>vai trò + 21 quyền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5A6372"/>
                </a:solidFill>
                <a:latin typeface="Calibri"/>
              </a:rPr>
              <a:t>Mỗi tính năng đều có endpoint API và quyền yêu cầu rõ ràng — chi tiết trong tài liệu Danh sách Tính năng.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TỪ LỆNH ĐẾN MẺ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Phân hệ sản xuất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976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Lệnh &amp; điều độ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429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Tạo lệnh ERP (PO)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Work Order ngày/ca/line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Lệnh nấu/lọc phân cấp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(cha → nhiều lệnh con)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Hoàn thành theo thể tích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Lập lịch Gantt tối ưu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976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Công thức &amp; BOM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429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Version + workflow duyệt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BOM scale theo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Dung sai ± %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tra tồn trước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NVL thay thế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Yield theo công đoạn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Change-control e-sign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9768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Mẻ &amp; ISA-88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429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Snapshot recipe bất biến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State machine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Consume / produce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Đường cong lên men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Đối chiếu BOM↔thực tế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Phase nấu/lên men/lọc/CIP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QA / QC / LIMS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Chất lượng &amp; phòng 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40680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Chất lượng cơ bản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4983480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Ghi kết quả QC (PASS/FAIL số học)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FAIL → tự động ON HOLD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Hold / Release (quyền QA)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Release chặn nếu còn FAIL chưa đóng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Deviation workflow open → closed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7336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64792"/>
            <a:ext cx="4526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QC Lab nâng 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350008"/>
            <a:ext cx="4983480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SPC control chart I-MR (UCL/LCL)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Luật Western Electric · Cp/Cpk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CAPA: khắc phục / phòng ngừa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COA — phiếu phân tích cho mẻ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0" i="0">
                <a:solidFill>
                  <a:srgbClr val="222A3A"/>
                </a:solidFill>
                <a:latin typeface="Calibri"/>
              </a:rPr>
              <a:t>LIMS-lite: đăng ký → test → xong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NVL · THÀNH PHẨM · BAO BÌ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Kho &amp; Logistics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Kho NVL — 2 địa điểm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Kho công ty ↔ Kho phân xưởng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Đề nghị nhận kho (FIFO)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Kiểm kê định kỳ + duyệt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Sổ cái bất biến + hoàn tác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Cảnh báo tồn tối thiểu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Lịch sử dùng NVL theo mẻ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Kho TP (WMS theo unit)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FinishedGoodsUnit (thay pallet)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Cất vị trí / điều chuyển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Phân rã &amp; gộp theo lô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Bia cận date + Xuất tự do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Lệnh đóng hàng (import Excel)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Xuất kho FIFO theo loại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Bao bì tuần hoàn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Vỏ chai / két-gông / keg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Tồn + lưu hành ngoài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Tiền cược (deposit)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Biến động: nhập/xuất/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thu hồi/loại bỏ/kiểm kê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Chặn kiểm kê âm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OEE · CMMS · NĂNG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Thiết bị &amp; hiệu suất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OEE &amp; dừng máy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OEE = A × P × Q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Gauge + phân rã A/P/Q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Cây lý do dừng máy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Pareto + % tích lũy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6 big losses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MTBF / MTTR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Bảo trì &amp; kiểm định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Thiết bị + phụ tùng (tồn min)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Sự cố + xử lý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Kế hoạch (tự đánh dấu quá hạn)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Kiểm định valid/due/overdue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Phóng xạ, van an toàn,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hiệu chuẩn TBĐ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Năng lượng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Nhóm: điện/nước/hơi/khí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Số đọc ngày (upsert)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Biểu đồ ngày theo nhóm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Tổng hợp tháng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Theo khu vực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28090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Truy xuất, hồ sơ &amp; toàn vẹn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Truy xuất &amp;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Truy ngược TP → NVL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Truy xuôi NVL → TP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Recall simulation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Đồ thị genealogy có hướng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Đếm lô ảnh hưởng + 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EBR &amp; e-signature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Dossier step-by-step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Timeline thao tác từ audit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BOM / QC / deviation / men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Ký điện tử re-auth (Part 11)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Khóa → mẻ bất biến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Audit bất biến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Append-only (không sửa/xóa)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hash-chain tamper-evident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verify-chain phát hiện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   giả mạo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seq UNIQUE chống race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AI, tích hợp &amp; nền tảng số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801368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Trợ lý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Chat có bộ nhớ + streaming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AI insights (cảnh báo ưu tiên)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8 tool MES read-only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Manifest cho AI agent/MCP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Tác vụ nền (job)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80" y="180136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2352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Cổng tích hợp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API mở /api/v1 (X-API-Key)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Feed + nhận sự kiện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Quản lý API key (scope)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50" b="0" i="0">
                <a:solidFill>
                  <a:srgbClr val="222A3A"/>
                </a:solidFill>
                <a:latin typeface="Calibri"/>
              </a:rPr>
              <a:t>Webhook (HMAC secret)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600200"/>
            <a:ext cx="3529584" cy="4206240"/>
          </a:xfrm>
          <a:prstGeom prst="roundRect">
            <a:avLst/>
          </a:prstGeom>
          <a:solidFill>
            <a:srgbClr val="EFF3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02752" y="1801368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8824" y="1764792"/>
            <a:ext cx="2615184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Realtime SCADA thật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2350008"/>
            <a:ext cx="3072384" cy="3337559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Đọc trực tiếp CSDL WinCC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   ngoài (WAN), chỉ SELECT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Máy chiết 30K + trạm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   quan trắc nước thải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Tự làm mới 15s + tự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00" b="0" i="0">
                <a:solidFill>
                  <a:srgbClr val="222A3A"/>
                </a:solidFill>
                <a:latin typeface="Calibri"/>
              </a:rPr>
              <a:t>   thử lại kết nối lỗi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8229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13 / 13 phân hệ MES hardcore — hoàn thành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783080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Lệnh &amp; điều độ</a:t>
            </a:r>
          </a:p>
        </p:txBody>
      </p:sp>
      <p:sp>
        <p:nvSpPr>
          <p:cNvPr id="6" name="Oval 5"/>
          <p:cNvSpPr/>
          <p:nvPr/>
        </p:nvSpPr>
        <p:spPr>
          <a:xfrm>
            <a:off x="6217920" y="1783080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78308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EBR điện tử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459736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59736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Recipe/BOM nâng cao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2459736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459736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Tích hợp thiết bị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1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36391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Historian/time-series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3136391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136391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Material consumption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13048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Quality hardcore (SPC)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813048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813048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OEE/downtime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9704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Barcode/RFID/kiosk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4489704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4489704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Phân quyền sâu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166360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16636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E-sign &amp; audit bất biến</a:t>
            </a:r>
          </a:p>
        </p:txBody>
      </p:sp>
      <p:sp>
        <p:nvSpPr>
          <p:cNvPr id="26" name="Oval 25"/>
          <p:cNvSpPr/>
          <p:nvPr/>
        </p:nvSpPr>
        <p:spPr>
          <a:xfrm>
            <a:off x="6217920" y="5166360"/>
            <a:ext cx="420624" cy="42062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5166360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Kiến trúc production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5843016"/>
            <a:ext cx="420624" cy="420624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843016"/>
            <a:ext cx="4754880" cy="42062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ISA-88 / LIMS / WMS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