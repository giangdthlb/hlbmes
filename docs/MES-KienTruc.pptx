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280160"/>
            <a:ext cx="3108960" cy="3108960"/>
          </a:xfrm>
          <a:prstGeom prst="ellipse">
            <a:avLst/>
          </a:prstGeom>
          <a:solidFill>
            <a:srgbClr val="16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16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00"/>
                </a:solidFill>
                <a:latin typeface="Calibri"/>
              </a:rPr>
              <a:t>🍺 MES BIA HẠ LONG · NHÀ MÁY ĐÔNG 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Tài liệu Kiến trúc Chuẩn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CADCFC"/>
                </a:solidFill>
                <a:latin typeface="Calibri"/>
              </a:rPr>
              <a:t>Hệ thống Điều hành Sản xuất (MES) cho nhà máy bia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800600"/>
            <a:ext cx="2377440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Tài liệu Kiến trúc Chuẩn  ·  Phiên bản 0.1.0-mvp  ·  Tài liệu hướng dẫn nội bộ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MES làm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22A3A"/>
                </a:solidFill>
                <a:latin typeface="Calibri"/>
              </a:rPr>
              <a:t>Điều phối toàn bộ vòng đời sản xuất bia — từ lệnh đến thành phẩm — trên một nền tảng thống nhất, có truy xuất và kiểm toán đầy đủ.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627632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627632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Lệnh 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560320"/>
            <a:ext cx="201168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560320"/>
            <a:ext cx="1627632" cy="6400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560320"/>
            <a:ext cx="1627632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Điều độ (WO)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560320"/>
            <a:ext cx="201168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560320"/>
            <a:ext cx="1627632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1627632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Mẻ (Batch)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560320"/>
            <a:ext cx="201168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560320"/>
            <a:ext cx="1627632" cy="6400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560320"/>
            <a:ext cx="1627632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QC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1" y="2560320"/>
            <a:ext cx="201168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560320"/>
            <a:ext cx="1627632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560320"/>
            <a:ext cx="1627632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Phả hệ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560320"/>
            <a:ext cx="201168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2A900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560320"/>
            <a:ext cx="1627632" cy="6400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560320"/>
            <a:ext cx="1627632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11880"/>
            <a:ext cx="3529584" cy="23774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38130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77647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Phân hệ lõi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361688"/>
            <a:ext cx="3072384" cy="1508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Lệnh &amp; điều độ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Công thức &amp; BOM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Mẻ &amp; ISA-88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Chất lượng &amp; QC Lab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Truy xuất &amp; EBR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611880"/>
            <a:ext cx="3529584" cy="23774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26280" y="381304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77647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Phân hệ vận hành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4361688"/>
            <a:ext cx="3072384" cy="1508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Kho NVL &amp; WMS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OEE &amp; dừng máy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Bảo trì &amp; kiểm định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Năng lượng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Bao bì tuần hoàn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3611880"/>
            <a:ext cx="3529584" cy="23774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2752" y="381304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824" y="377647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Nền tảng số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5" y="4361688"/>
            <a:ext cx="3072384" cy="1508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Historian / Edge OT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Lập lịch tối ưu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Trợ lý AI (tư vấn)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Cổng API tích hợp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Audit hash-chain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72"/>
                </a:solidFill>
                <a:latin typeface="Calibri"/>
              </a:rPr>
              <a:t>13/13 phân hệ MES hardcore đã hoàn thành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TRIẾT LÝ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Nguyên tắc kiến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13258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8424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64792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Modular monolith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03704"/>
            <a:ext cx="42976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Một tiến trình, chia theo bounded context — dễ tách microservice sau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13258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9842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64792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Bounded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203704"/>
            <a:ext cx="42976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Mỗi module sở hữu dữ liệu riêng; truy cập chéo qua service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81528"/>
            <a:ext cx="5440680" cy="13258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465576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4612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REST /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85032"/>
            <a:ext cx="42976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OpenAPI tự sinh tại /docs; mọi API theo chuẩn 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81528"/>
            <a:ext cx="5440680" cy="13258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3465576"/>
            <a:ext cx="566928" cy="5669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4612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RDBMS chuẩn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685032"/>
            <a:ext cx="42976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SQLite (dev) ↔ PostgreSQL 16 (prod), đổi qua biến môi trường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62856"/>
            <a:ext cx="5440680" cy="13258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946904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27448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SoR bất biến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66360"/>
            <a:ext cx="42976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Snapshot công thức · audit append-only · EBR khóa được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562856"/>
            <a:ext cx="5440680" cy="13258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494690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727448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Human-in-the-loop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166360"/>
            <a:ext cx="42976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AI chỉ tư vấn; mọi hành động cần con người + đúng quyền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LAYERED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Kiến trúc phân tầng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7955279" cy="713232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2860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54864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E2761"/>
                </a:solidFill>
                <a:latin typeface="Calibri"/>
              </a:rPr>
              <a:t>Web UI · Kiosk · Swagger · phần mềm ngoài (API) · edge OPC 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9152"/>
            <a:ext cx="7955279" cy="713232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2860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59152"/>
            <a:ext cx="54864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request-id · rate-limit · log · /metrics · ánh xạ lỗi → HTTP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63824"/>
            <a:ext cx="7955279" cy="713232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63824"/>
            <a:ext cx="22860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ROUTERS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63824"/>
            <a:ext cx="54864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32 router · ~379 REST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68496"/>
            <a:ext cx="7955279" cy="713232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22860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68496"/>
            <a:ext cx="54864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47 module quy tắc nghiệp vụ (batches, recipes, quality, bom, brew_order, filter_order, integration_connection…)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73168"/>
            <a:ext cx="7955279" cy="713232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73168"/>
            <a:ext cx="22860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MODELS (ORM)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773168"/>
            <a:ext cx="54864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~100 lớp theo bounded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7955279" cy="713232"/>
          </a:xfrm>
          <a:prstGeom prst="roundRect">
            <a:avLst/>
          </a:prstGeom>
          <a:solidFill>
            <a:srgbClr val="16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77840"/>
            <a:ext cx="22860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577840"/>
            <a:ext cx="548640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SQLite (dev)  ·  PostgreSQL 16 + Alembic (prod)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1554480"/>
            <a:ext cx="2834640" cy="4626864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737360"/>
            <a:ext cx="24688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00"/>
                </a:solidFill>
                <a:latin typeface="Calibri"/>
              </a:rPr>
              <a:t>Xuyên suốt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240280"/>
            <a:ext cx="2514600" cy="3840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security.py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RBAC · SoD · scope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audit.py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hash-chain bất biến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config · logging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Settings · request-id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ratelimit · metrics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Redis · 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72"/>
                </a:solidFill>
                <a:latin typeface="Calibri"/>
              </a:rPr>
              <a:t>Quy tắc phụ thuộc: Router → Service → Model (service không gọi ngược router)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Ngăn xếp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876702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Lớp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5342" y="1600200"/>
            <a:ext cx="3319272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8494" y="1600200"/>
            <a:ext cx="319125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Công nghệ</a:t>
            </a:r>
          </a:p>
        </p:txBody>
      </p:sp>
      <p:sp>
        <p:nvSpPr>
          <p:cNvPr id="9" name="Rectangle 8"/>
          <p:cNvSpPr/>
          <p:nvPr/>
        </p:nvSpPr>
        <p:spPr>
          <a:xfrm>
            <a:off x="6744614" y="1600200"/>
            <a:ext cx="4868265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7766" y="1600200"/>
            <a:ext cx="4740249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Ghi chú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20824"/>
            <a:ext cx="287670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020824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Web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5342" y="2020824"/>
            <a:ext cx="33192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8494" y="2020824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FastAPI 0.111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44614" y="2020824"/>
            <a:ext cx="486826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7766" y="2020824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OpenAPI tự sinh, lifespan, middleware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04872"/>
            <a:ext cx="287670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404872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5342" y="2404872"/>
            <a:ext cx="331927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8494" y="2404872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SQLAlchemy 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614" y="2404872"/>
            <a:ext cx="4868265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7766" y="2404872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DeclarativeBase, session-per-request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88920"/>
            <a:ext cx="287670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788920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Validation/cấu hình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5342" y="2788920"/>
            <a:ext cx="33192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8494" y="2788920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Pydantic 2 + settings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4614" y="2788920"/>
            <a:ext cx="486826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7766" y="2788920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Gom mọi biến MES_*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72968"/>
            <a:ext cx="287670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72968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CSDL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5342" y="3172968"/>
            <a:ext cx="331927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8494" y="3172968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SQLite / PostgreSQL 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4614" y="3172968"/>
            <a:ext cx="4868265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7766" y="3172968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Đổi qua MES_DATABASE_URL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57015"/>
            <a:ext cx="287670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557015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Migration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5342" y="3557015"/>
            <a:ext cx="33192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8494" y="3557015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Alembic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44614" y="3557015"/>
            <a:ext cx="486826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7766" y="3557015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6+ migration; prod: upgrade head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941063"/>
            <a:ext cx="287670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941063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Edge 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5342" y="3941063"/>
            <a:ext cx="331927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8494" y="3941063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asyncua (OPC UA)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4614" y="3941063"/>
            <a:ext cx="4868265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7766" y="3941063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Tag chuẩn Weihenstephan → historian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25112"/>
            <a:ext cx="287670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325112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AI (tùy chọn)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5342" y="4325112"/>
            <a:ext cx="33192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98494" y="4325112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anthropic / Claude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44614" y="4325112"/>
            <a:ext cx="486826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7766" y="4325112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claude-opus-4-8; offline → engine luật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709159"/>
            <a:ext cx="287670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709159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Frontend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5342" y="4709159"/>
            <a:ext cx="3319272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98494" y="4709159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Vanilla JS + SVG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44614" y="4709159"/>
            <a:ext cx="4868265" cy="38404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7766" y="4709159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Zero-build, chạy offline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093207"/>
            <a:ext cx="287670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" y="5093207"/>
            <a:ext cx="274868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Đóng gói / CI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25342" y="5093207"/>
            <a:ext cx="33192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8494" y="5093207"/>
            <a:ext cx="3191256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Docker · GitHub Actions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44614" y="5093207"/>
            <a:ext cx="486826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7766" y="5093207"/>
            <a:ext cx="4740249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app+Postgres; ruff+pytest+build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12 BOUNDED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Mô hình dữ liệu (~100 lớp)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User,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600200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719072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10312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Product, BeerType, FinishedProduct, Material, Supplier,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00200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719072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Lệnh nấu/lọc phân cấp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10312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BrewMasterOrder/Order, FilterMasterOrder/Order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9504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Công thức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73552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Recipe, Version,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770632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889504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Thực thi mẻ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273552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Batch, PhaseRun, Reading, OEE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770632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2889504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Nấu-Lọc-Chiết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3273552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BrewBatch, FermentRecord, FilterRecord, BottleRecord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41064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59936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Chất lượng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43984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QC Result, Deviation, CAPA, Sample, QcGroup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941064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059936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Kho NVL 2 địa điểm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443984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MaterialLot, StockMovement, MaterialRequest, StockCount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3941064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4059936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WMS theo unit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3" y="4443984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FinishedGoodsUnit, Shipment, LoadSlip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11496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230368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CMMS &amp; năng lượng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14416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Equipment, Incident, Energy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5111496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5230368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Tích hợp CSDL ngoài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5614416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SqlConnection, ImportProfile, custom field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5111496"/>
            <a:ext cx="3566160" cy="1024128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3" y="5230368"/>
            <a:ext cx="3291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Audit &amp;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5614416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AuditLog, Signature, Conversation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SAI TRANSITION → HTTP 409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Máy trạng thái cốt lõi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743200" cy="6766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7432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Mẻ (Batch)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8183879" cy="676656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45920"/>
            <a:ext cx="786384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22A3A"/>
                </a:solidFill>
                <a:latin typeface="Consolas"/>
              </a:rPr>
              <a:t>planned → ready → running → held → completed → closed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2743200" cy="67665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32304"/>
            <a:ext cx="27432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Công thức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32304"/>
            <a:ext cx="8183879" cy="676656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432304"/>
            <a:ext cx="786384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22A3A"/>
                </a:solidFill>
                <a:latin typeface="Consolas"/>
              </a:rPr>
              <a:t>draft → review → approved → effective → suspended/obsolete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18688"/>
            <a:ext cx="2743200" cy="676656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27432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Lệnh SX (WO)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218688"/>
            <a:ext cx="8183879" cy="676656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218688"/>
            <a:ext cx="786384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22A3A"/>
                </a:solidFill>
                <a:latin typeface="Consolas"/>
              </a:rPr>
              <a:t>planned → released → in_progress → completed → closed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05072"/>
            <a:ext cx="2743200" cy="676656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05072"/>
            <a:ext cx="27432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Deviation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005072"/>
            <a:ext cx="8183879" cy="676656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005072"/>
            <a:ext cx="786384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22A3A"/>
                </a:solidFill>
                <a:latin typeface="Consolas"/>
              </a:rPr>
              <a:t>open → triage → investigation → disposition → approval → closed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91456"/>
            <a:ext cx="2743200" cy="67665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91456"/>
            <a:ext cx="27432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Chất lượng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791456"/>
            <a:ext cx="8183879" cy="676656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4791456"/>
            <a:ext cx="786384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22A3A"/>
                </a:solidFill>
                <a:latin typeface="Consolas"/>
              </a:rPr>
              <a:t>pending → on_hold ⇄ released → rejected   (FAIL → on_hold)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77840"/>
            <a:ext cx="2743200" cy="6766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274320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ISA-88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5577840"/>
            <a:ext cx="8183879" cy="676656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5577840"/>
            <a:ext cx="7863840" cy="676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22A3A"/>
                </a:solidFill>
                <a:latin typeface="Consolas"/>
              </a:rPr>
              <a:t>idle → running → held → complete  (+ aborted)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72"/>
                </a:solidFill>
                <a:latin typeface="Calibri"/>
              </a:rPr>
              <a:t>Chỉ phiên bản công thức 'effective' mới được dùng để chạy mẻ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Vòng đời một mẻ sản xuất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600200"/>
            <a:ext cx="10332720" cy="603504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9966960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PO → WorkOrder → Dispatch sinh Batch (snapshot recipe bất biến)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8658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386584"/>
            <a:ext cx="10332720" cy="603504"/>
          </a:xfrm>
          <a:prstGeom prst="roundRect">
            <a:avLst/>
          </a:prstGeom>
          <a:solidFill>
            <a:srgbClr val="E7F0F2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386584"/>
            <a:ext cx="9966960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Kiểm tra tồn BOM ↔ tồn khả dụng (thiếu → chặn 409)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172968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172968"/>
            <a:ext cx="10332720" cy="603504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172968"/>
            <a:ext cx="9966960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ready → running · Consume NVL theo FEFO + genealogy edge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93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959352"/>
            <a:ext cx="10332720" cy="603504"/>
          </a:xfrm>
          <a:prstGeom prst="roundRect">
            <a:avLst/>
          </a:prstGeom>
          <a:solidFill>
            <a:srgbClr val="E7F0F2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959352"/>
            <a:ext cx="9966960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Ghi actual tham số · ghi QC (PASS/FAIL số học; FAIL → on_hold)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745736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745736"/>
            <a:ext cx="10332720" cy="603504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745736"/>
            <a:ext cx="9966960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Produce lô output · QA release (chặn nếu còn FAIL)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5532120"/>
            <a:ext cx="10332720" cy="603504"/>
          </a:xfrm>
          <a:prstGeom prst="roundRect">
            <a:avLst/>
          </a:prstGeom>
          <a:solidFill>
            <a:srgbClr val="E7F0F2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5532120"/>
            <a:ext cx="9966960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completed → closed · EBR: ký điện tử → khóa (content_hash)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DEFENSE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Bảo mật &amp; phân quyền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2103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Xác thực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4983480" cy="1234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Mật khẩu PBKDF2 100k vòng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Token Bearer · phiên 12h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Buộc đổi mật khẩu mặc định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Fallback header chỉ ở 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2103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6479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RBAC + quyền thao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50008"/>
            <a:ext cx="4983480" cy="1234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5 vai trò: operator/supervisor/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qa/engineer/admin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21 quyền (require_perm)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Admin: toàn quyền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440680" cy="2103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05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SoD + data-scoping (4 chiều)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90288"/>
            <a:ext cx="4983480" cy="1234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Soạn ≠ duyệt; ghi QC ≠ release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Ký ≠ khóa EBR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Scope: line / khu vực / loại test /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địa điểm kho (cty ↔ phân xưởng)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440680" cy="2103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3368" y="4041648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05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Toàn vẹn (21 CFR Part 11)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590288"/>
            <a:ext cx="4983480" cy="1234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Audit append-only + hash-chain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verify-chain phát hiện giả mạo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E-signature re-auth + lý do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EBR khóa → mẻ bất biến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MỞ RỘNG RA NGOÀI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Tích hợp &amp; Edge 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Cổng API mở /api/v1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X-API-Key scope read/write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batches · inventory · OEE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energy · quality · trace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Feed sự kiện (since_seq)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Nhận event ngoài (ghi qua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record_audit, không gãy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hash-chain)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CSDL SCADA thật (mới)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Kết nối SQL Server ngoài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(WinCC…), chỉ SELECT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1 kết nối nhiều purpose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Panel Realtime 30K/nước thải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tự làm mới 15s + tự thử lại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kết nối lỗi mỗi 15s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529584" cy="42062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7647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Barcode / Kiosk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50008"/>
            <a:ext cx="3072384" cy="333755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Tem Code39 + QR (segno)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/api/scan phân giải mã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lô / mẻ / WO / đơn hàng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Kiosk cảm ứng cho xưởng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cấp liệu nhanh + in 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Lớp AI — chỉ tư vấn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22A3A"/>
                </a:solidFill>
                <a:latin typeface="Calibri"/>
              </a:rPr>
              <a:t>Mọi tool AI đều read-only — không tool nào đổi setpoint, điều khiển thiết bị hay ghi dữ liệu sản xuất.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529584" cy="33832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4871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505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AI vận hành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5808"/>
            <a:ext cx="3072384" cy="2514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GET /api/ai/insights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Quét dữ liệu thật →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cảnh báo &amp; đề xuất có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mức ưu tiên (tồn/hạn,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kiểm định, sự cố, QC,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OEE thấp)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286000"/>
            <a:ext cx="3529584" cy="33832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48716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24505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Trợ lý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35808"/>
            <a:ext cx="3072384" cy="2514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Claude claude-opus-4-8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(tool-use) hoặc engine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luật offline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Bộ nhớ hội thoại server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Streaming SSE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8 tool MES read-only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286000"/>
            <a:ext cx="3529584" cy="33832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02752" y="24871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45059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Kiểm soát chi phí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3035808"/>
            <a:ext cx="3072384" cy="2514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Rate-limit 20/phút/phiên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Hạn mức 300 chat/ngày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Log model/token/USD/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latency mỗi lượt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Tác vụ nền: ai_report,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recall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PRODUCTION-GRADE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Vận hành &amp; triển khai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876702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Hạng mục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5342" y="1600200"/>
            <a:ext cx="8187537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8494" y="1600200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Hiện thực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20824"/>
            <a:ext cx="287670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20824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Health / readiness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5342" y="2020824"/>
            <a:ext cx="818753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8494" y="2020824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GET /api/health — kiểm tra kết nối DB + 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41448"/>
            <a:ext cx="2876702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41448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5342" y="2441448"/>
            <a:ext cx="8187537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8494" y="2441448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GET /metrics (Prometheus): http, AI, rate-limit, audit-chain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62072"/>
            <a:ext cx="287670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862072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Logging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5342" y="2862072"/>
            <a:ext cx="818753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8494" y="2862072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Structured + request-id (X-Request-ID) + log chi phí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82696"/>
            <a:ext cx="2876702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282696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Rate-limit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5342" y="3282696"/>
            <a:ext cx="8187537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8494" y="3282696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in-process sliding-window hoặc Redis (tự fallback)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03320"/>
            <a:ext cx="287670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703320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Đóng gói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5342" y="3703320"/>
            <a:ext cx="818753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8494" y="3703320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Docker compose: app FastAPI + PostgreSQL 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23944"/>
            <a:ext cx="2876702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123944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Migration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5342" y="4123944"/>
            <a:ext cx="8187537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8494" y="4123944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Alembic upgrade head (prod) · create_all (dev)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44568"/>
            <a:ext cx="287670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44568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Backup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5342" y="4544568"/>
            <a:ext cx="8187537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8494" y="4544568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backup.sh / restore.sh + test_restore (verify hash-chain)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65192"/>
            <a:ext cx="2876702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965192"/>
            <a:ext cx="274868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CI / Test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5342" y="4965192"/>
            <a:ext cx="8187537" cy="420624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98494" y="4965192"/>
            <a:ext cx="8059521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GitHub Actions: ruff + pytest (57 file test) + docker 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CHỦ Ý CHO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Giới hạn &amp; ranh giới tích hợp thật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36192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536192"/>
            <a:ext cx="10424160" cy="54864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5361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Panel Realtime đã đọc CSDL SCADA THẬT qua WAN (không còn mô phỏng) — mới nối 2 nguồn (30K, nước thải)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194560"/>
            <a:ext cx="10424160" cy="54864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19456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Historian nội bộ (edge OT demo) vẫn mô phỏng — production swap TimescaleDB/InfluxDB (điểm cắm đã sẵn)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52928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852928"/>
            <a:ext cx="10424160" cy="54864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852928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Chưa có SSO/OIDC + MFA (cần IdP); HTTPS qua reverse proxy (mẫu nginx sẵn)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11296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511296"/>
            <a:ext cx="10424160" cy="54864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511296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availability là kiểm tra tư vấn, chưa giữ chỗ tồn (TOCTOU nếu tạo mẻ đồng thời)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169663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169663"/>
            <a:ext cx="10424160" cy="54864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169663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Worker nền in-process; quy mô rất lớn → Celery/RQ + Redis broker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828031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828031"/>
            <a:ext cx="10424160" cy="54864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828031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Hồ sơ CSV/IQ-OQ-PQ &amp; UAT theo ca thật thuộc quy trình tại 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72"/>
                </a:solidFill>
                <a:latin typeface="Calibri"/>
              </a:rPr>
              <a:t>Mọi phần mô phỏng đều có điểm tích hợp chuẩn để cắm thiết bị/DB thật về sau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