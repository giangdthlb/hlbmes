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1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Hướng dẫn Sử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Dành cho tất cả tài khoản · tài liệu đào tạo nội bộ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Sách Hướng dẫn Sử dụng  ·  Phiên bản 0.1.0-mvp  ·  Tài liệu hướng dẫn nội bộ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BẮT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Tài liệu này dành cho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22A3A"/>
                </a:solidFill>
                <a:latin typeface="Calibri"/>
              </a:rPr>
              <a:t>Mọi người dùng MES — đọc phần chung trước, rồi tìm phần dành cho chức danh của bạn.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49808" y="25786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4203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Phần chung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3072384" cy="2423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Đăng nhập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Đổi mật khẩu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Giao diện &amp; menu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Hiểu phân quyền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26280" y="25786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254203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Theo chức danh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127248"/>
            <a:ext cx="3072384" cy="2423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10 tài khoản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Menu thấy được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Quyền &amp; phạm vi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Thao tác từng bước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2377440"/>
            <a:ext cx="3529584" cy="32918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02752" y="257860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254203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Quy trình &amp; FAQ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3127248"/>
            <a:ext cx="3072384" cy="2423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End-to-end 1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Kiosk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Trợ lý AI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Xử lý sự cố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PHẦN CHUNG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Đăng nhập &amp; phiên làm việc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91640"/>
            <a:ext cx="530352" cy="53035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91640"/>
            <a:ext cx="10332720" cy="658368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8760" y="1891301"/>
            <a:ext cx="9966960" cy="25904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350" b="0" i="0" dirty="0" err="1">
                <a:solidFill>
                  <a:srgbClr val="222A3A"/>
                </a:solidFill>
                <a:latin typeface="Calibri"/>
              </a:rPr>
              <a:t>Mở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lang="en-US" sz="1350" dirty="0">
                <a:solidFill>
                  <a:srgbClr val="222A3A"/>
                </a:solidFill>
              </a:rPr>
              <a:t>http://</a:t>
            </a:r>
            <a:r>
              <a:rPr lang="en-US" sz="1350" dirty="0" err="1">
                <a:solidFill>
                  <a:srgbClr val="222A3A"/>
                </a:solidFill>
              </a:rPr>
              <a:t>mes.biahalong.com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→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nhập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tên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đăng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nhập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&amp;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mật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khẩu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Đăng</a:t>
            </a:r>
            <a:r>
              <a:rPr sz="1350" b="0" i="0" dirty="0">
                <a:solidFill>
                  <a:srgbClr val="222A3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22A3A"/>
                </a:solidFill>
                <a:latin typeface="Calibri"/>
              </a:rPr>
              <a:t>nhập</a:t>
            </a:r>
            <a:endParaRPr sz="1350" b="0" i="0" dirty="0">
              <a:solidFill>
                <a:srgbClr val="222A3A"/>
              </a:solidFill>
              <a:latin typeface="Calibri"/>
            </a:endParaRPr>
          </a:p>
        </p:txBody>
      </p:sp>
      <p:sp>
        <p:nvSpPr>
          <p:cNvPr id="8" name="Oval 7"/>
          <p:cNvSpPr/>
          <p:nvPr/>
        </p:nvSpPr>
        <p:spPr>
          <a:xfrm>
            <a:off x="548640" y="2532888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532888"/>
            <a:ext cx="10332720" cy="658368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9669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Phiên ghi nhớ 12 giờ — mở lại tab không cần đăng nhập lại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74136"/>
            <a:ext cx="530352" cy="530352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374136"/>
            <a:ext cx="10332720" cy="658368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08760" y="3374136"/>
            <a:ext cx="99669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Sai nhiều lần → bị giới hạn tần suất (10/phút/IP), chờ ~1 phút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215384"/>
            <a:ext cx="530352" cy="530352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15384"/>
            <a:ext cx="10332720" cy="658368"/>
          </a:xfrm>
          <a:prstGeom prst="roundRect">
            <a:avLst/>
          </a:prstGeom>
          <a:solidFill>
            <a:srgbClr val="E7F0F2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08760" y="4215384"/>
            <a:ext cx="99669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A"/>
                </a:solidFill>
                <a:latin typeface="Calibri"/>
              </a:rPr>
              <a:t>Lần đầu với admin (mật khẩu mặc định) → buộc đổi mật khẩu ngay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Đổi mật khẩu &amp; sửa họ tên bất kỳ lúc nào trong tab Hồ sơ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MẬT KHẨU DEMO: 123456 · ADMIN: ADMIN123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10 tài khoản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2304288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176272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Tài khoản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3785616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1554480"/>
            <a:ext cx="365760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Chức danh</a:t>
            </a:r>
          </a:p>
        </p:txBody>
      </p:sp>
      <p:sp>
        <p:nvSpPr>
          <p:cNvPr id="9" name="Rectangle 8"/>
          <p:cNvSpPr/>
          <p:nvPr/>
        </p:nvSpPr>
        <p:spPr>
          <a:xfrm>
            <a:off x="6638544" y="1554480"/>
            <a:ext cx="2139696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11696" y="1554480"/>
            <a:ext cx="2011679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Vai trò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75104"/>
            <a:ext cx="2304288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975104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1975104"/>
            <a:ext cx="378561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26080" y="1975104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Quản trị hệ thống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38544" y="1975104"/>
            <a:ext cx="213969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11696" y="1975104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admin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290572"/>
            <a:ext cx="2304288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2290572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giamdoc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2290572"/>
            <a:ext cx="378561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6080" y="2290572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Giám đốc nhà máy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38544" y="2290572"/>
            <a:ext cx="213969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11696" y="2290572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supervisor (xem)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06039"/>
            <a:ext cx="2304288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2606039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quandoc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2928" y="2606039"/>
            <a:ext cx="378561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0" y="2606039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Quản đốc phân xưởng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2606039"/>
            <a:ext cx="213969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11696" y="2606039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supervisor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921507"/>
            <a:ext cx="2304288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1792" y="2921507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truongca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21507"/>
            <a:ext cx="378561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26080" y="2921507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Trưởng ca sản xuất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2921507"/>
            <a:ext cx="213969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11696" y="2921507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supervisor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236975"/>
            <a:ext cx="2304288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3236975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vanhanh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2928" y="3236975"/>
            <a:ext cx="378561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926080" y="3236975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Nhân viên vận hành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38544" y="3236975"/>
            <a:ext cx="213969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11696" y="3236975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552443"/>
            <a:ext cx="2304288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3552443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3552443"/>
            <a:ext cx="378561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26080" y="3552443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Nhân viên KCS / QA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38544" y="3552443"/>
            <a:ext cx="213969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711696" y="3552443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867911"/>
            <a:ext cx="2304288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3867911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kysu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52928" y="3867911"/>
            <a:ext cx="378561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926080" y="3867911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Kỹ sư công nghệ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38544" y="3867911"/>
            <a:ext cx="213969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11696" y="3867911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engineer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183379"/>
            <a:ext cx="2304288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1792" y="4183379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thukho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52928" y="4183379"/>
            <a:ext cx="378561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26080" y="4183379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Thủ kho NVL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38544" y="4183379"/>
            <a:ext cx="213969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711696" y="4183379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4498847"/>
            <a:ext cx="2304288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" y="4498847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baotri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52928" y="4498847"/>
            <a:ext cx="378561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926080" y="4498847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Nhân viên bảo trì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38544" y="4498847"/>
            <a:ext cx="2139696" cy="3154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11696" y="4498847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4814315"/>
            <a:ext cx="2304288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1792" y="4814315"/>
            <a:ext cx="2176272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nangluong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52928" y="4814315"/>
            <a:ext cx="378561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26080" y="4814315"/>
            <a:ext cx="3657600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NV quản lý năng lượng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38544" y="4814315"/>
            <a:ext cx="2139696" cy="315468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711696" y="4814315"/>
            <a:ext cx="2011679" cy="3154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operator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52560" y="1554480"/>
            <a:ext cx="2560320" cy="36118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235440" y="1737360"/>
            <a:ext cx="2240280" cy="3291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A900"/>
                </a:solidFill>
                <a:latin typeface="Calibri"/>
              </a:rPr>
              <a:t>Lưu 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Đây là tài khoản demo.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Môi trường thật chỉ tạo admin; admin tự tạo tài khoản theo chức danh thực tế.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4 LỚP KIỂM SOÁT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Vì sao tôi không bấm được nút nào đó?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37360"/>
            <a:ext cx="658368" cy="65836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645920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1640" y="1755648"/>
            <a:ext cx="274320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755648"/>
            <a:ext cx="713232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Chức danh quyết định tab nào hiện. Tab Hồ sơ luôn có.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5292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761488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91640" y="2871216"/>
            <a:ext cx="274320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Quyền thao tác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71216"/>
            <a:ext cx="713232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Nút ghi/tạo/duyệt chỉ chạy nếu có quyền — thiếu thì báo 403.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968496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3877056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91640" y="3986784"/>
            <a:ext cx="274320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Phạm vi (scope)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86784"/>
            <a:ext cx="713232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Chỉ thao tác trên line / khu vực / loại test được phân.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084064"/>
            <a:ext cx="658368" cy="658368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4992624"/>
            <a:ext cx="10195560" cy="914400"/>
          </a:xfrm>
          <a:prstGeom prst="roundRect">
            <a:avLst/>
          </a:prstGeom>
          <a:solidFill>
            <a:srgbClr val="EFF3F9"/>
          </a:solidFill>
          <a:ln w="762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274320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Phân tách (SoD)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102352"/>
            <a:ext cx="713232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Không tự duyệt việc mình làm: soạn≠duyệt, ghi QC≠release, ký≠khóa.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PHẦN CHUNG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Làm quen giao diện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9222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Thanh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Các tab chức năng — chỉ hiện tab được phân quyền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Subnav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1284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Thanh phụ chia mục con (vd Kho: Tồn / Thẻ kho / Hạn dùng)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Ô tìm kiếm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3016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Gõ để lọc nhanh dòng trên bảng lớn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20954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3016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Cửa sổ bật lên: tạo/sửa/xem chi tiết (BOM, EBR, tem)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2686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Toast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4748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Thông báo góc màn hình: xanh = thành công, đỏ = lỗi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480560"/>
            <a:ext cx="5440680" cy="1234440"/>
          </a:xfrm>
          <a:prstGeom prst="roundRect">
            <a:avLst/>
          </a:prstGeom>
          <a:solidFill>
            <a:srgbClr val="EFF3F9"/>
          </a:solidFill>
          <a:ln w="889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4626864"/>
            <a:ext cx="50292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028090"/>
                </a:solidFill>
                <a:latin typeface="Calibri"/>
              </a:rPr>
              <a:t>Màu trạng thái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47488"/>
            <a:ext cx="5029200" cy="594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222A3A"/>
                </a:solidFill>
                <a:latin typeface="Calibri"/>
              </a:rPr>
              <a:t>Đỏ=thiếu thông tin · xanh lá=chưa NVL · xanh dương=đầy đủ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ĐIỀU HÀNH SẢN XUẤT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Quản đốc &amp; Trưởng 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Quản đốc phân xưởng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lệnh SX &amp; Work Order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Dispatch + lập lịch tối ưu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Theo dõi tiến độ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Mở/đóng deviation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Phê duyệt &amp; KHÓA hồ sơ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(toàn nhà máy)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Trưởng ca sản xuất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mẻ (kiểm tra tồn trước)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Chuyển trạng thái ready→running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Consume / produce / actual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Chạy phase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Ký điện tử EBR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Phạm vi: Line Nấu 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THAO TÁC SÀN &amp;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Vận hành &amp; KCS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Nhân viên vận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Chọn mẻ đang chạy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Consume NVL theo định mức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actual tham số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Produce lô output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Chạy phase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Khuyên dùng giao diện Kiosk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Nhân viên KCS / QA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kết quả QC (FAIL → hold)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RELEASE (chặn nếu còn FAIL)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Mở/xử lý deviation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SPC · CAPA · COA · LIMS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Duyệt công thức (≠ tự soạn)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Phạm vi test: Độ đường, 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THIẾT KẾ &amp; KHO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Kỹ sư &amp; Thủ kho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Kỹ sư công nghệ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sản phẩm/vật tư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Soạn công thức + BOM + ISA-88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→ review → duyệt → hiệu lực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(không tự duyệt bản mình soạn)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Yield, change-control, NVL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   thay thế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440680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373368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1907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Thủ kho NVL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04288"/>
            <a:ext cx="4983480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Nhập/xuất/hoàn/sang ngang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Tồn · thẻ kho · hạn dùng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Đóng pallet thành phẩm (WMS)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Putaway / ship + in tem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biến động bao bì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Phạm vi: khu vực kho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CÁC CHỨC DANH KHÁC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Bảo trì · Năng lượng · Giám đốc · 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Bảo trì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04288"/>
            <a:ext cx="3072384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Báo cáo + xử lý sự cố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 hoạch bảo trì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định/hiệu chuẩn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Phụ tùng tồn min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KV: lọc, chiết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26280" y="175564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1907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Năng lượng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04288"/>
            <a:ext cx="3072384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Cập nhật số liệu ngày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Biểu đồ ngày/tháng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Quản danh mục nhóm/khu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KV: nấu, lên men, chiết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554480"/>
            <a:ext cx="3529584" cy="438912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02752" y="175564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19072"/>
            <a:ext cx="2615184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Giám đốc &amp; 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04288"/>
            <a:ext cx="3072384" cy="35204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Giám đốc: chỉ xem —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KPI, OEE, BC, truy xuất, AI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Admin: quản lý tài khoản,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quyền, scope, API key,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webhook, audit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AI LÀM GÌ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Quy trình end-to-end một mẻ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327708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1199692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Bước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6348" y="1554480"/>
            <a:ext cx="3319272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49500" y="1554480"/>
            <a:ext cx="3191256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Người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95620" y="1554480"/>
            <a:ext cx="6417259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68772" y="1554480"/>
            <a:ext cx="6289243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Thao tác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75104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975104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1-2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6348" y="1975104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949500" y="1975104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Quản đốc / Trưởng 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5620" y="1975104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8772" y="1975104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Tạo lệnh SX → Work Order → phát hành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368296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2368296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6348" y="2368296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49500" y="2368296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Thủ kho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95620" y="2368296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8772" y="2368296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Đảm bảo NVL đã nhập kho, còn hạn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61488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2761488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4-5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6348" y="2761488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49500" y="2761488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Trưởng ca / Vận hành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5620" y="2761488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68772" y="2761488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Kiểm tra tồn → tạo mẻ → cấp liệu (FEFO)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54680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1792" y="3154680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6348" y="3154680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949500" y="3154680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5620" y="3154680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68772" y="3154680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Chạy phase · ghi actual · consume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47872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3547872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6348" y="3547872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949500" y="3547872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95620" y="3547872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268772" y="3547872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Ghi QC; xử lý deviation nếu FAIL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941064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3941064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8-9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6348" y="3941064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949500" y="3941064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 / KCS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95620" y="3941064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268772" y="3941064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Produce lô → RELEASE (hết FAIL)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334256"/>
            <a:ext cx="1327708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4334256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10-12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6348" y="4334256"/>
            <a:ext cx="3319272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49500" y="4334256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Vận hành / Quản đốc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95620" y="4334256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8772" y="4334256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completed → ký EBR → khóa → closed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727448"/>
            <a:ext cx="1327708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1792" y="4727448"/>
            <a:ext cx="1199692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6348" y="4727448"/>
            <a:ext cx="3319272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949500" y="4727448"/>
            <a:ext cx="3191256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Thủ kho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95620" y="4727448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268772" y="4727448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pallet, putaway, in 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/KIOSK.HTML — MÀN HÌNH CẢM 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Kiosk xưởng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56232"/>
            <a:ext cx="17830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Quét mã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41448"/>
            <a:ext cx="2240280" cy="3154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Bắn mã / gõ + Enter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Tự phân giải lô/mẻ/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WO/đơn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Cấp liệu nhanh nút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SL lớn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57600" y="189280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856232"/>
            <a:ext cx="17830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In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2463" y="2441448"/>
            <a:ext cx="2240280" cy="3154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Nhập mã → Tạo tem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Code39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In trực tiếp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1691640"/>
            <a:ext cx="2697480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65392" y="18928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⚗️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1856232"/>
            <a:ext cx="17830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Mẻ chạy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2441448"/>
            <a:ext cx="2240280" cy="3154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Xem nhanh các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đang chạy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1691640"/>
            <a:ext cx="2359152" cy="402336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473184" y="1892808"/>
            <a:ext cx="457200" cy="45720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9256" y="1856232"/>
            <a:ext cx="1444752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Bản đầy đủ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2441448"/>
            <a:ext cx="1901952" cy="3154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Quay lại UI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chính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Tối ưu cho tablet/máy quét tại sàn — đăng nhập bằng tài khoản của bạn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HỎI-ĐÁP + CẢNH BÁO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Trợ lý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3840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5623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Khung chat (trái)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41448"/>
            <a:ext cx="4983480" cy="2971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Tạo / chọn hội thoại (lưu server)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Gõ câu hỏi → Gửi (hiện dần)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Hiện tool AI đã dùng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Còn nguyên khi tải lại / đổi máy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440680" cy="3840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373368" y="189280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856232"/>
            <a:ext cx="45262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Cảnh báo (phải)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41448"/>
            <a:ext cx="4983480" cy="2971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3 mức: Cao / TB / Thấp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Miền · phát hiện · đề xuất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Nút Báo cáo nền (job async)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AI chỉ tư vấn — không tự đổi dữ liệu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1106424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372"/>
                </a:solidFill>
                <a:latin typeface="Calibri"/>
              </a:rPr>
              <a:t>Không có API key → engine luật offline · có hạn mức chat/ngày để kiểm soát chi phí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Xử lý sự cố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646980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451896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Tình huống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5620" y="1554480"/>
            <a:ext cx="6417259" cy="420624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68772" y="1554480"/>
            <a:ext cx="6289243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Cách xử lý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1975104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thấy một 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95620" y="1975104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68772" y="1975104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Chức danh không được cấp menu — nhờ 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8296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368296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Bấm nút → 'không đủ quyền' (403)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5620" y="2368296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8772" y="2368296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Thiếu quyền thao tác — nhờ admin gán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61488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2761488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thấy mẻ line khác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95620" y="2761488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8772" y="2761488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Phạm vi (scope) giới hạn — đúng thiết kế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54680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3154680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Không duyệt/khóa được việc mình làm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95620" y="3154680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68772" y="3154680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Phân tách nhiệm vụ (SoD) — nhờ người khác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47872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3547872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Tạo mẻ báo 'thiếu tồn' (409)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5620" y="3547872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68772" y="3547872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Nhập kho thêm hoặc xác nhận cho phép thiếu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941064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1792" y="3941064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Release bị chặn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95620" y="3941064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8772" y="3941064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Đóng deviation (hết FAIL) rồi release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334256"/>
            <a:ext cx="4646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" y="4334256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Mẻ không sửa được nữa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95620" y="4334256"/>
            <a:ext cx="6417259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68772" y="4334256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EBR đã khóa → mẻ bất biến, chỉ amendment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7448"/>
            <a:ext cx="4646980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1792" y="4727448"/>
            <a:ext cx="4518964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AI báo hết lượt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95620" y="4727448"/>
            <a:ext cx="6417259" cy="393192"/>
          </a:xfrm>
          <a:prstGeom prst="rect">
            <a:avLst/>
          </a:prstGeom>
          <a:solidFill>
            <a:srgbClr val="EFF3F9"/>
          </a:solidFill>
          <a:ln w="635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268772" y="4727448"/>
            <a:ext cx="6289243" cy="39319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22A3A"/>
                </a:solidFill>
                <a:latin typeface="Calibri"/>
              </a:rPr>
              <a:t>Vượt hạn mức/ngày — chờ hoặc tăng quota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846320" y="1554480"/>
            <a:ext cx="1371600" cy="13716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Sẵn sàng vận hành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Đọc chi tiết trong Sách Hướng dẫn Sử dụng · Tài liệu API tại /docs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MES Bia Hạ Long · Nhà Máy Đông Mai · 0.1.0-mvp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1375</Words>
  <Application>Microsoft Macintosh PowerPoint</Application>
  <PresentationFormat>Widescreen</PresentationFormat>
  <Paragraphs>269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Giang Trương</cp:lastModifiedBy>
  <cp:revision>2</cp:revision>
  <dcterms:created xsi:type="dcterms:W3CDTF">2013-01-27T09:14:16Z</dcterms:created>
  <dcterms:modified xsi:type="dcterms:W3CDTF">2026-06-23T10:28:47Z</dcterms:modified>
  <cp:category/>
</cp:coreProperties>
</file>