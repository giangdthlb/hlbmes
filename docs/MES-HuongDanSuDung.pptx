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058400" y="-1280160"/>
            <a:ext cx="3108960" cy="3108960"/>
          </a:xfrm>
          <a:prstGeom prst="ellipse">
            <a:avLst/>
          </a:prstGeom>
          <a:solidFill>
            <a:srgbClr val="161D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097280" y="4937760"/>
            <a:ext cx="2926080" cy="2926080"/>
          </a:xfrm>
          <a:prstGeom prst="ellipse">
            <a:avLst/>
          </a:prstGeom>
          <a:solidFill>
            <a:srgbClr val="161D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0584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2A900"/>
                </a:solidFill>
                <a:latin typeface="Calibri"/>
              </a:rPr>
              <a:t>🍺 MES BIA HẠ LONG · NHÀ MÁY ĐÔNG MAI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10607040" cy="18288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4600" b="1" i="0">
                <a:solidFill>
                  <a:srgbClr val="FFFFFF"/>
                </a:solidFill>
                <a:latin typeface="Cambria"/>
              </a:rPr>
              <a:t>Hướng dẫn Sử dụng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3977639"/>
            <a:ext cx="1005840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CADCFC"/>
                </a:solidFill>
                <a:latin typeface="Calibri"/>
              </a:rPr>
              <a:t>Dành cho tất cả tài khoản · tài liệu đào tạo nội bộ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4800600"/>
            <a:ext cx="2377440" cy="54864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035040"/>
            <a:ext cx="100584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CADCFC"/>
                </a:solidFill>
                <a:latin typeface="Calibri"/>
              </a:rPr>
              <a:t>Sách Hướng dẫn Sử dụng  ·  Phiên bản 0.1.0-mvp  ·  Cập nhật 25/07/2026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028090"/>
                </a:solidFill>
                <a:latin typeface="Calibri"/>
              </a:rPr>
              <a:t>BẮT ĐẦU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E2761"/>
                </a:solidFill>
                <a:latin typeface="Cambria"/>
              </a:rPr>
              <a:t>Tài liệu này dành cho ai?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1064240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222A3A"/>
                </a:solidFill>
                <a:latin typeface="Calibri"/>
              </a:rPr>
              <a:t>Mọi người dùng MES — đọc phần chung trước, rồi tìm phần dành cho chức danh của bạn.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377440"/>
            <a:ext cx="3529584" cy="3291840"/>
          </a:xfrm>
          <a:prstGeom prst="roundRect">
            <a:avLst/>
          </a:prstGeom>
          <a:solidFill>
            <a:srgbClr val="EFF3F9"/>
          </a:solidFill>
          <a:ln w="9525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49808" y="2578608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2542032"/>
            <a:ext cx="2615184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E2761"/>
                </a:solidFill>
                <a:latin typeface="Calibri"/>
              </a:rPr>
              <a:t>Phần chung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3127248"/>
            <a:ext cx="3072384" cy="24231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50" b="0" i="0">
                <a:solidFill>
                  <a:srgbClr val="222A3A"/>
                </a:solidFill>
                <a:latin typeface="Calibri"/>
              </a:rPr>
              <a:t>Đăng nhập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50" b="0" i="0">
                <a:solidFill>
                  <a:srgbClr val="222A3A"/>
                </a:solidFill>
                <a:latin typeface="Calibri"/>
              </a:rPr>
              <a:t>Đổi mật khẩu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50" b="0" i="0">
                <a:solidFill>
                  <a:srgbClr val="222A3A"/>
                </a:solidFill>
                <a:latin typeface="Calibri"/>
              </a:rPr>
              <a:t>Giao diện &amp; menu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50" b="0" i="0">
                <a:solidFill>
                  <a:srgbClr val="222A3A"/>
                </a:solidFill>
                <a:latin typeface="Calibri"/>
              </a:rPr>
              <a:t>Hiểu phân quyền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2377440"/>
            <a:ext cx="3529584" cy="3291840"/>
          </a:xfrm>
          <a:prstGeom prst="roundRect">
            <a:avLst/>
          </a:prstGeom>
          <a:solidFill>
            <a:srgbClr val="EFF3F9"/>
          </a:solidFill>
          <a:ln w="9525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26280" y="2578608"/>
            <a:ext cx="457200" cy="45720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02352" y="2542032"/>
            <a:ext cx="2615184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E2761"/>
                </a:solidFill>
                <a:latin typeface="Calibri"/>
              </a:rPr>
              <a:t>Theo chức danh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1144" y="3127248"/>
            <a:ext cx="3072384" cy="24231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50" b="0" i="0">
                <a:solidFill>
                  <a:srgbClr val="222A3A"/>
                </a:solidFill>
                <a:latin typeface="Calibri"/>
              </a:rPr>
              <a:t>10 tài khoản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50" b="0" i="0">
                <a:solidFill>
                  <a:srgbClr val="222A3A"/>
                </a:solidFill>
                <a:latin typeface="Calibri"/>
              </a:rPr>
              <a:t>Menu thấy được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50" b="0" i="0">
                <a:solidFill>
                  <a:srgbClr val="222A3A"/>
                </a:solidFill>
                <a:latin typeface="Calibri"/>
              </a:rPr>
              <a:t>Quyền &amp; phạm vi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50" b="0" i="0">
                <a:solidFill>
                  <a:srgbClr val="222A3A"/>
                </a:solidFill>
                <a:latin typeface="Calibri"/>
              </a:rPr>
              <a:t>Thao tác từng bước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01583" y="2377440"/>
            <a:ext cx="3529584" cy="3291840"/>
          </a:xfrm>
          <a:prstGeom prst="roundRect">
            <a:avLst/>
          </a:prstGeom>
          <a:solidFill>
            <a:srgbClr val="EFF3F9"/>
          </a:solidFill>
          <a:ln w="9525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302752" y="2578608"/>
            <a:ext cx="457200" cy="457200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78824" y="2542032"/>
            <a:ext cx="2615184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E2761"/>
                </a:solidFill>
                <a:latin typeface="Calibri"/>
              </a:rPr>
              <a:t>Quy trình &amp; FAQ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7615" y="3127248"/>
            <a:ext cx="3072384" cy="24231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50" b="0" i="0">
                <a:solidFill>
                  <a:srgbClr val="222A3A"/>
                </a:solidFill>
                <a:latin typeface="Calibri"/>
              </a:rPr>
              <a:t>End-to-end 1 mẻ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50" b="0" i="0">
                <a:solidFill>
                  <a:srgbClr val="222A3A"/>
                </a:solidFill>
                <a:latin typeface="Calibri"/>
              </a:rPr>
              <a:t>Kiosk xưởng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50" b="0" i="0">
                <a:solidFill>
                  <a:srgbClr val="222A3A"/>
                </a:solidFill>
                <a:latin typeface="Calibri"/>
              </a:rPr>
              <a:t>Trợ lý AI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50" b="0" i="0">
                <a:solidFill>
                  <a:srgbClr val="222A3A"/>
                </a:solidFill>
                <a:latin typeface="Calibri"/>
              </a:rPr>
              <a:t>Xử lý sự cố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028090"/>
                </a:solidFill>
                <a:latin typeface="Calibri"/>
              </a:rPr>
              <a:t>PHẦN CHUNG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E2761"/>
                </a:solidFill>
                <a:latin typeface="Cambria"/>
              </a:rPr>
              <a:t>Đăng nhập &amp; phiên làm việc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691640"/>
            <a:ext cx="530352" cy="530352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80160" y="1691640"/>
            <a:ext cx="10332720" cy="658368"/>
          </a:xfrm>
          <a:prstGeom prst="roundRect">
            <a:avLst/>
          </a:prstGeom>
          <a:solidFill>
            <a:srgbClr val="EFF3F9"/>
          </a:solidFill>
          <a:ln w="762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691640"/>
            <a:ext cx="9966960" cy="65836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 i="0">
                <a:solidFill>
                  <a:srgbClr val="222A3A"/>
                </a:solidFill>
                <a:latin typeface="Calibri"/>
              </a:rPr>
              <a:t>Mở http://localhost:8077/ → nhập tên đăng nhập &amp; mật khẩu → Đăng nhập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532888"/>
            <a:ext cx="530352" cy="530352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80160" y="2532888"/>
            <a:ext cx="10332720" cy="658368"/>
          </a:xfrm>
          <a:prstGeom prst="roundRect">
            <a:avLst/>
          </a:prstGeom>
          <a:solidFill>
            <a:srgbClr val="E7F0F2"/>
          </a:solidFill>
          <a:ln w="762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08760" y="2532888"/>
            <a:ext cx="9966960" cy="65836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 i="0">
                <a:solidFill>
                  <a:srgbClr val="222A3A"/>
                </a:solidFill>
                <a:latin typeface="Calibri"/>
              </a:rPr>
              <a:t>Phiên ghi nhớ 12 giờ — mở lại tab không cần đăng nhập lại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374136"/>
            <a:ext cx="530352" cy="530352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80160" y="3374136"/>
            <a:ext cx="10332720" cy="658368"/>
          </a:xfrm>
          <a:prstGeom prst="roundRect">
            <a:avLst/>
          </a:prstGeom>
          <a:solidFill>
            <a:srgbClr val="EFF3F9"/>
          </a:solidFill>
          <a:ln w="762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3374136"/>
            <a:ext cx="9966960" cy="65836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 i="0">
                <a:solidFill>
                  <a:srgbClr val="222A3A"/>
                </a:solidFill>
                <a:latin typeface="Calibri"/>
              </a:rPr>
              <a:t>Sai nhiều lần → bị giới hạn tần suất (10/phút/IP), chờ ~1 phút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4215384"/>
            <a:ext cx="530352" cy="530352"/>
          </a:xfrm>
          <a:prstGeom prst="ellipse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80160" y="4215384"/>
            <a:ext cx="10332720" cy="658368"/>
          </a:xfrm>
          <a:prstGeom prst="roundRect">
            <a:avLst/>
          </a:prstGeom>
          <a:solidFill>
            <a:srgbClr val="E7F0F2"/>
          </a:solidFill>
          <a:ln w="762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08760" y="4215384"/>
            <a:ext cx="9966960" cy="65836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 i="0">
                <a:solidFill>
                  <a:srgbClr val="222A3A"/>
                </a:solidFill>
                <a:latin typeface="Calibri"/>
              </a:rPr>
              <a:t>Lần đầu với admin (mật khẩu mặc định) → buộc đổi mật khẩu ngay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37376"/>
            <a:ext cx="11064240" cy="292608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5A6372"/>
                </a:solidFill>
                <a:latin typeface="Calibri"/>
              </a:rPr>
              <a:t>Đổi mật khẩu &amp; sửa họ tên bất kỳ lúc nào trong tab Hồ sơ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028090"/>
                </a:solidFill>
                <a:latin typeface="Calibri"/>
              </a:rPr>
              <a:t>MẬT KHẨU DEMO: 123456 · ADMIN: ADMIN123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E2761"/>
                </a:solidFill>
                <a:latin typeface="Cambria"/>
              </a:rPr>
              <a:t>11 tài khoản demo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2304288" cy="420624"/>
          </a:xfrm>
          <a:prstGeom prst="rect">
            <a:avLst/>
          </a:prstGeom>
          <a:solidFill>
            <a:srgbClr val="1E2761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1554480"/>
            <a:ext cx="2176272" cy="42062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Tài khoản</a:t>
            </a:r>
          </a:p>
        </p:txBody>
      </p:sp>
      <p:sp>
        <p:nvSpPr>
          <p:cNvPr id="7" name="Rectangle 6"/>
          <p:cNvSpPr/>
          <p:nvPr/>
        </p:nvSpPr>
        <p:spPr>
          <a:xfrm>
            <a:off x="2852928" y="1554480"/>
            <a:ext cx="3785616" cy="420624"/>
          </a:xfrm>
          <a:prstGeom prst="rect">
            <a:avLst/>
          </a:prstGeom>
          <a:solidFill>
            <a:srgbClr val="1E2761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80" y="1554480"/>
            <a:ext cx="3657600" cy="42062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Chức danh</a:t>
            </a:r>
          </a:p>
        </p:txBody>
      </p:sp>
      <p:sp>
        <p:nvSpPr>
          <p:cNvPr id="9" name="Rectangle 8"/>
          <p:cNvSpPr/>
          <p:nvPr/>
        </p:nvSpPr>
        <p:spPr>
          <a:xfrm>
            <a:off x="6638544" y="1554480"/>
            <a:ext cx="2139696" cy="420624"/>
          </a:xfrm>
          <a:prstGeom prst="rect">
            <a:avLst/>
          </a:prstGeom>
          <a:solidFill>
            <a:srgbClr val="1E2761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11696" y="1554480"/>
            <a:ext cx="2011679" cy="42062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Vai trò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975104"/>
            <a:ext cx="23042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1975104"/>
            <a:ext cx="2176272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222A3A"/>
                </a:solidFill>
                <a:latin typeface="Calibri"/>
              </a:rPr>
              <a:t>admin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52928" y="1975104"/>
            <a:ext cx="3785616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26080" y="1975104"/>
            <a:ext cx="3657600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222A3A"/>
                </a:solidFill>
                <a:latin typeface="Calibri"/>
              </a:rPr>
              <a:t>Quản trị hệ thống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38544" y="1975104"/>
            <a:ext cx="2139696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11696" y="1975104"/>
            <a:ext cx="2011679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222A3A"/>
                </a:solidFill>
                <a:latin typeface="Calibri"/>
              </a:rPr>
              <a:t>admin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267712"/>
            <a:ext cx="2304288" cy="292608"/>
          </a:xfrm>
          <a:prstGeom prst="rect">
            <a:avLst/>
          </a:prstGeom>
          <a:solidFill>
            <a:srgbClr val="EFF3F9"/>
          </a:solidFill>
          <a:ln w="635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" y="2267712"/>
            <a:ext cx="2176272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222A3A"/>
                </a:solidFill>
                <a:latin typeface="Calibri"/>
              </a:rPr>
              <a:t>giamdoc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52928" y="2267712"/>
            <a:ext cx="3785616" cy="292608"/>
          </a:xfrm>
          <a:prstGeom prst="rect">
            <a:avLst/>
          </a:prstGeom>
          <a:solidFill>
            <a:srgbClr val="EFF3F9"/>
          </a:solidFill>
          <a:ln w="635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26080" y="2267712"/>
            <a:ext cx="3657600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222A3A"/>
                </a:solidFill>
                <a:latin typeface="Calibri"/>
              </a:rPr>
              <a:t>Giám đốc nhà máy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38544" y="2267712"/>
            <a:ext cx="2139696" cy="292608"/>
          </a:xfrm>
          <a:prstGeom prst="rect">
            <a:avLst/>
          </a:prstGeom>
          <a:solidFill>
            <a:srgbClr val="EFF3F9"/>
          </a:solidFill>
          <a:ln w="635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11696" y="2267712"/>
            <a:ext cx="2011679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222A3A"/>
                </a:solidFill>
                <a:latin typeface="Calibri"/>
              </a:rPr>
              <a:t>supervisor (xem)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2560320"/>
            <a:ext cx="23042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" y="2560320"/>
            <a:ext cx="2176272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222A3A"/>
                </a:solidFill>
                <a:latin typeface="Calibri"/>
              </a:rPr>
              <a:t>quandoc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52928" y="2560320"/>
            <a:ext cx="3785616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926080" y="2560320"/>
            <a:ext cx="3657600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222A3A"/>
                </a:solidFill>
                <a:latin typeface="Calibri"/>
              </a:rPr>
              <a:t>Quản đốc phân xưởng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38544" y="2560320"/>
            <a:ext cx="2139696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11696" y="2560320"/>
            <a:ext cx="2011679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222A3A"/>
                </a:solidFill>
                <a:latin typeface="Calibri"/>
              </a:rPr>
              <a:t>supervisor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2852927"/>
            <a:ext cx="2304288" cy="292608"/>
          </a:xfrm>
          <a:prstGeom prst="rect">
            <a:avLst/>
          </a:prstGeom>
          <a:solidFill>
            <a:srgbClr val="EFF3F9"/>
          </a:solidFill>
          <a:ln w="635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" y="2852927"/>
            <a:ext cx="2176272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222A3A"/>
                </a:solidFill>
                <a:latin typeface="Calibri"/>
              </a:rPr>
              <a:t>truongca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852928" y="2852927"/>
            <a:ext cx="3785616" cy="292608"/>
          </a:xfrm>
          <a:prstGeom prst="rect">
            <a:avLst/>
          </a:prstGeom>
          <a:solidFill>
            <a:srgbClr val="EFF3F9"/>
          </a:solidFill>
          <a:ln w="635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926080" y="2852927"/>
            <a:ext cx="3657600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222A3A"/>
                </a:solidFill>
                <a:latin typeface="Calibri"/>
              </a:rPr>
              <a:t>Trưởng ca sản xuất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38544" y="2852927"/>
            <a:ext cx="2139696" cy="292608"/>
          </a:xfrm>
          <a:prstGeom prst="rect">
            <a:avLst/>
          </a:prstGeom>
          <a:solidFill>
            <a:srgbClr val="EFF3F9"/>
          </a:solidFill>
          <a:ln w="635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11696" y="2852927"/>
            <a:ext cx="2011679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222A3A"/>
                </a:solidFill>
                <a:latin typeface="Calibri"/>
              </a:rPr>
              <a:t>supervisor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3145535"/>
            <a:ext cx="23042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1792" y="3145535"/>
            <a:ext cx="2176272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222A3A"/>
                </a:solidFill>
                <a:latin typeface="Calibri"/>
              </a:rPr>
              <a:t>vanhanh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852928" y="3145535"/>
            <a:ext cx="3785616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926080" y="3145535"/>
            <a:ext cx="3657600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222A3A"/>
                </a:solidFill>
                <a:latin typeface="Calibri"/>
              </a:rPr>
              <a:t>Nhân viên vận hành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638544" y="3145535"/>
            <a:ext cx="2139696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11696" y="3145535"/>
            <a:ext cx="2011679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222A3A"/>
                </a:solidFill>
                <a:latin typeface="Calibri"/>
              </a:rPr>
              <a:t>operator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3438143"/>
            <a:ext cx="2304288" cy="292608"/>
          </a:xfrm>
          <a:prstGeom prst="rect">
            <a:avLst/>
          </a:prstGeom>
          <a:solidFill>
            <a:srgbClr val="EFF3F9"/>
          </a:solidFill>
          <a:ln w="635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1792" y="3438143"/>
            <a:ext cx="2176272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222A3A"/>
                </a:solidFill>
                <a:latin typeface="Calibri"/>
              </a:rPr>
              <a:t>kcs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852928" y="3438143"/>
            <a:ext cx="3785616" cy="292608"/>
          </a:xfrm>
          <a:prstGeom prst="rect">
            <a:avLst/>
          </a:prstGeom>
          <a:solidFill>
            <a:srgbClr val="EFF3F9"/>
          </a:solidFill>
          <a:ln w="635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926080" y="3438143"/>
            <a:ext cx="3657600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222A3A"/>
                </a:solidFill>
                <a:latin typeface="Calibri"/>
              </a:rPr>
              <a:t>Nhân viên KCS / QA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638544" y="3438143"/>
            <a:ext cx="2139696" cy="292608"/>
          </a:xfrm>
          <a:prstGeom prst="rect">
            <a:avLst/>
          </a:prstGeom>
          <a:solidFill>
            <a:srgbClr val="EFF3F9"/>
          </a:solidFill>
          <a:ln w="635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711696" y="3438143"/>
            <a:ext cx="2011679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222A3A"/>
                </a:solidFill>
                <a:latin typeface="Calibri"/>
              </a:rPr>
              <a:t>qa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8640" y="3730751"/>
            <a:ext cx="23042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1792" y="3730751"/>
            <a:ext cx="2176272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222A3A"/>
                </a:solidFill>
                <a:latin typeface="Calibri"/>
              </a:rPr>
              <a:t>kysu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852928" y="3730751"/>
            <a:ext cx="3785616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926080" y="3730751"/>
            <a:ext cx="3657600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222A3A"/>
                </a:solidFill>
                <a:latin typeface="Calibri"/>
              </a:rPr>
              <a:t>Kỹ sư công nghệ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638544" y="3730751"/>
            <a:ext cx="2139696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711696" y="3730751"/>
            <a:ext cx="2011679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222A3A"/>
                </a:solidFill>
                <a:latin typeface="Calibri"/>
              </a:rPr>
              <a:t>engineer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48640" y="4023359"/>
            <a:ext cx="2304288" cy="292608"/>
          </a:xfrm>
          <a:prstGeom prst="rect">
            <a:avLst/>
          </a:prstGeom>
          <a:solidFill>
            <a:srgbClr val="EFF3F9"/>
          </a:solidFill>
          <a:ln w="635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21792" y="4023359"/>
            <a:ext cx="2176272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222A3A"/>
                </a:solidFill>
                <a:latin typeface="Calibri"/>
              </a:rPr>
              <a:t>thukho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852928" y="4023359"/>
            <a:ext cx="3785616" cy="292608"/>
          </a:xfrm>
          <a:prstGeom prst="rect">
            <a:avLst/>
          </a:prstGeom>
          <a:solidFill>
            <a:srgbClr val="EFF3F9"/>
          </a:solidFill>
          <a:ln w="635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926080" y="4023359"/>
            <a:ext cx="3657600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222A3A"/>
                </a:solidFill>
                <a:latin typeface="Calibri"/>
              </a:rPr>
              <a:t>Thủ kho NVL (Kho công ty)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638544" y="4023359"/>
            <a:ext cx="2139696" cy="292608"/>
          </a:xfrm>
          <a:prstGeom prst="rect">
            <a:avLst/>
          </a:prstGeom>
          <a:solidFill>
            <a:srgbClr val="EFF3F9"/>
          </a:solidFill>
          <a:ln w="635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711696" y="4023359"/>
            <a:ext cx="2011679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222A3A"/>
                </a:solidFill>
                <a:latin typeface="Calibri"/>
              </a:rPr>
              <a:t>operator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48640" y="4315968"/>
            <a:ext cx="23042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21792" y="4315968"/>
            <a:ext cx="2176272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222A3A"/>
                </a:solidFill>
                <a:latin typeface="Calibri"/>
              </a:rPr>
              <a:t>thukho_px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852928" y="4315968"/>
            <a:ext cx="3785616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926080" y="4315968"/>
            <a:ext cx="3657600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222A3A"/>
                </a:solidFill>
                <a:latin typeface="Calibri"/>
              </a:rPr>
              <a:t>Thủ kho phân xưởng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638544" y="4315968"/>
            <a:ext cx="2139696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711696" y="4315968"/>
            <a:ext cx="2011679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222A3A"/>
                </a:solidFill>
                <a:latin typeface="Calibri"/>
              </a:rPr>
              <a:t>operator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48640" y="4608576"/>
            <a:ext cx="2304288" cy="292608"/>
          </a:xfrm>
          <a:prstGeom prst="rect">
            <a:avLst/>
          </a:prstGeom>
          <a:solidFill>
            <a:srgbClr val="EFF3F9"/>
          </a:solidFill>
          <a:ln w="635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21792" y="4608576"/>
            <a:ext cx="2176272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222A3A"/>
                </a:solidFill>
                <a:latin typeface="Calibri"/>
              </a:rPr>
              <a:t>baotri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852928" y="4608576"/>
            <a:ext cx="3785616" cy="292608"/>
          </a:xfrm>
          <a:prstGeom prst="rect">
            <a:avLst/>
          </a:prstGeom>
          <a:solidFill>
            <a:srgbClr val="EFF3F9"/>
          </a:solidFill>
          <a:ln w="635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926080" y="4608576"/>
            <a:ext cx="3657600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222A3A"/>
                </a:solidFill>
                <a:latin typeface="Calibri"/>
              </a:rPr>
              <a:t>Nhân viên bảo trì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638544" y="4608576"/>
            <a:ext cx="2139696" cy="292608"/>
          </a:xfrm>
          <a:prstGeom prst="rect">
            <a:avLst/>
          </a:prstGeom>
          <a:solidFill>
            <a:srgbClr val="EFF3F9"/>
          </a:solidFill>
          <a:ln w="635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711696" y="4608576"/>
            <a:ext cx="2011679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222A3A"/>
                </a:solidFill>
                <a:latin typeface="Calibri"/>
              </a:rPr>
              <a:t>operator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48640" y="4901184"/>
            <a:ext cx="23042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21792" y="4901184"/>
            <a:ext cx="2176272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222A3A"/>
                </a:solidFill>
                <a:latin typeface="Calibri"/>
              </a:rPr>
              <a:t>nangluong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852928" y="4901184"/>
            <a:ext cx="3785616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926080" y="4901184"/>
            <a:ext cx="3657600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222A3A"/>
                </a:solidFill>
                <a:latin typeface="Calibri"/>
              </a:rPr>
              <a:t>NV quản lý năng lượng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638544" y="4901184"/>
            <a:ext cx="2139696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711696" y="4901184"/>
            <a:ext cx="2011679" cy="29260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222A3A"/>
                </a:solidFill>
                <a:latin typeface="Calibri"/>
              </a:rPr>
              <a:t>operator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9052560" y="1554480"/>
            <a:ext cx="2560320" cy="3611880"/>
          </a:xfrm>
          <a:prstGeom prst="roundRect">
            <a:avLst/>
          </a:prstGeom>
          <a:solidFill>
            <a:srgbClr val="EFF3F9"/>
          </a:solidFill>
          <a:ln w="9525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235440" y="1737360"/>
            <a:ext cx="2240280" cy="32918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F2A900"/>
                </a:solidFill>
                <a:latin typeface="Calibri"/>
              </a:rPr>
              <a:t>Lưu ý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222A3A"/>
                </a:solidFill>
                <a:latin typeface="Calibri"/>
              </a:rPr>
              <a:t>Đây là tài khoản demo.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5A6372"/>
                </a:solidFill>
                <a:latin typeface="Calibri"/>
              </a:rPr>
              <a:t>Môi trường thật chỉ tạo admin; admin tự tạo tài khoản theo chức danh thực tế.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028090"/>
                </a:solidFill>
                <a:latin typeface="Calibri"/>
              </a:rPr>
              <a:t>4 LỚP KIỂM SOÁT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E2761"/>
                </a:solidFill>
                <a:latin typeface="Cambria"/>
              </a:rPr>
              <a:t>Vì sao tôi không bấm được nút nào đó?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737360"/>
            <a:ext cx="658368" cy="65836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17320" y="1645920"/>
            <a:ext cx="10195560" cy="914400"/>
          </a:xfrm>
          <a:prstGeom prst="roundRect">
            <a:avLst/>
          </a:prstGeom>
          <a:solidFill>
            <a:srgbClr val="EFF3F9"/>
          </a:solidFill>
          <a:ln w="762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91640" y="1755648"/>
            <a:ext cx="2743200" cy="69494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Menu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1755648"/>
            <a:ext cx="7132320" cy="69494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222A3A"/>
                </a:solidFill>
                <a:latin typeface="Calibri"/>
              </a:rPr>
              <a:t>Chức danh quyết định tab nào hiện. Tab Hồ sơ luôn có.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852928"/>
            <a:ext cx="658368" cy="658368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17320" y="2761488"/>
            <a:ext cx="10195560" cy="914400"/>
          </a:xfrm>
          <a:prstGeom prst="roundRect">
            <a:avLst/>
          </a:prstGeom>
          <a:solidFill>
            <a:srgbClr val="EFF3F9"/>
          </a:solidFill>
          <a:ln w="762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91640" y="2871216"/>
            <a:ext cx="2743200" cy="69494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Quyền thao tác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871216"/>
            <a:ext cx="7132320" cy="69494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222A3A"/>
                </a:solidFill>
                <a:latin typeface="Calibri"/>
              </a:rPr>
              <a:t>Nút ghi/tạo/duyệt chỉ chạy nếu có quyền — thiếu thì báo 403.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968496"/>
            <a:ext cx="658368" cy="658368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17320" y="3877056"/>
            <a:ext cx="10195560" cy="914400"/>
          </a:xfrm>
          <a:prstGeom prst="roundRect">
            <a:avLst/>
          </a:prstGeom>
          <a:solidFill>
            <a:srgbClr val="EFF3F9"/>
          </a:solidFill>
          <a:ln w="762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91640" y="3986784"/>
            <a:ext cx="2743200" cy="69494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Phạm vi (scope)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3986784"/>
            <a:ext cx="7132320" cy="69494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222A3A"/>
                </a:solidFill>
                <a:latin typeface="Calibri"/>
              </a:rPr>
              <a:t>Chỉ thao tác trên line / khu vực / loại test / địa điểm kho được phân.</a:t>
            </a:r>
          </a:p>
        </p:txBody>
      </p:sp>
      <p:sp>
        <p:nvSpPr>
          <p:cNvPr id="17" name="Oval 16"/>
          <p:cNvSpPr/>
          <p:nvPr/>
        </p:nvSpPr>
        <p:spPr>
          <a:xfrm>
            <a:off x="548640" y="5084064"/>
            <a:ext cx="658368" cy="658368"/>
          </a:xfrm>
          <a:prstGeom prst="ellipse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417320" y="4992624"/>
            <a:ext cx="10195560" cy="914400"/>
          </a:xfrm>
          <a:prstGeom prst="roundRect">
            <a:avLst/>
          </a:prstGeom>
          <a:solidFill>
            <a:srgbClr val="EFF3F9"/>
          </a:solidFill>
          <a:ln w="762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91640" y="5102352"/>
            <a:ext cx="2743200" cy="69494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Phân tách (SoD)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5102352"/>
            <a:ext cx="7132320" cy="69494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222A3A"/>
                </a:solidFill>
                <a:latin typeface="Calibri"/>
              </a:rPr>
              <a:t>Không tự duyệt việc mình làm: soạn≠duyệt, ghi QC≠release, ký≠khóa.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028090"/>
                </a:solidFill>
                <a:latin typeface="Calibri"/>
              </a:rPr>
              <a:t>PHẦN CHUNG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E2761"/>
                </a:solidFill>
                <a:latin typeface="Cambria"/>
              </a:rPr>
              <a:t>Làm quen giao diện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440680" cy="1234440"/>
          </a:xfrm>
          <a:prstGeom prst="roundRect">
            <a:avLst/>
          </a:prstGeom>
          <a:solidFill>
            <a:srgbClr val="EFF3F9"/>
          </a:solidFill>
          <a:ln w="889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92224"/>
            <a:ext cx="5029200" cy="4114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1" i="0">
                <a:solidFill>
                  <a:srgbClr val="028090"/>
                </a:solidFill>
                <a:latin typeface="Calibri"/>
              </a:rPr>
              <a:t>Thanh menu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212848"/>
            <a:ext cx="5029200" cy="5943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0" i="0">
                <a:solidFill>
                  <a:srgbClr val="222A3A"/>
                </a:solidFill>
                <a:latin typeface="Calibri"/>
              </a:rPr>
              <a:t>Các tab chức năng — chỉ hiện tab được phân quyền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645920"/>
            <a:ext cx="5440680" cy="1234440"/>
          </a:xfrm>
          <a:prstGeom prst="roundRect">
            <a:avLst/>
          </a:prstGeom>
          <a:solidFill>
            <a:srgbClr val="EFF3F9"/>
          </a:solidFill>
          <a:ln w="889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792224"/>
            <a:ext cx="5029200" cy="4114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1" i="0">
                <a:solidFill>
                  <a:srgbClr val="028090"/>
                </a:solidFill>
                <a:latin typeface="Calibri"/>
              </a:rPr>
              <a:t>Subnav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212848"/>
            <a:ext cx="5029200" cy="5943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0" i="0">
                <a:solidFill>
                  <a:srgbClr val="222A3A"/>
                </a:solidFill>
                <a:latin typeface="Calibri"/>
              </a:rPr>
              <a:t>Thanh phụ chia mục con (vd Kho: Tồn / Thẻ kho / Hạn dùng)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063240"/>
            <a:ext cx="5440680" cy="1234440"/>
          </a:xfrm>
          <a:prstGeom prst="roundRect">
            <a:avLst/>
          </a:prstGeom>
          <a:solidFill>
            <a:srgbClr val="EFF3F9"/>
          </a:solidFill>
          <a:ln w="889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209544"/>
            <a:ext cx="5029200" cy="4114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1" i="0">
                <a:solidFill>
                  <a:srgbClr val="028090"/>
                </a:solidFill>
                <a:latin typeface="Calibri"/>
              </a:rPr>
              <a:t>Ô tìm kiếm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630168"/>
            <a:ext cx="5029200" cy="5943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0" i="0">
                <a:solidFill>
                  <a:srgbClr val="222A3A"/>
                </a:solidFill>
                <a:latin typeface="Calibri"/>
              </a:rPr>
              <a:t>Gõ để lọc nhanh dòng trên bảng lớn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063240"/>
            <a:ext cx="5440680" cy="1234440"/>
          </a:xfrm>
          <a:prstGeom prst="roundRect">
            <a:avLst/>
          </a:prstGeom>
          <a:solidFill>
            <a:srgbClr val="EFF3F9"/>
          </a:solidFill>
          <a:ln w="889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3209544"/>
            <a:ext cx="5029200" cy="4114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1" i="0">
                <a:solidFill>
                  <a:srgbClr val="028090"/>
                </a:solidFill>
                <a:latin typeface="Calibri"/>
              </a:rPr>
              <a:t>Modal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630168"/>
            <a:ext cx="5029200" cy="5943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0" i="0">
                <a:solidFill>
                  <a:srgbClr val="222A3A"/>
                </a:solidFill>
                <a:latin typeface="Calibri"/>
              </a:rPr>
              <a:t>Cửa sổ bật lên: tạo/sửa/xem chi tiết (BOM, EBR, tem)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480560"/>
            <a:ext cx="5440680" cy="1234440"/>
          </a:xfrm>
          <a:prstGeom prst="roundRect">
            <a:avLst/>
          </a:prstGeom>
          <a:solidFill>
            <a:srgbClr val="EFF3F9"/>
          </a:solidFill>
          <a:ln w="889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626864"/>
            <a:ext cx="5029200" cy="4114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1" i="0">
                <a:solidFill>
                  <a:srgbClr val="028090"/>
                </a:solidFill>
                <a:latin typeface="Calibri"/>
              </a:rPr>
              <a:t>Toast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047488"/>
            <a:ext cx="5029200" cy="5943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0" i="0">
                <a:solidFill>
                  <a:srgbClr val="222A3A"/>
                </a:solidFill>
                <a:latin typeface="Calibri"/>
              </a:rPr>
              <a:t>Thông báo góc màn hình: xanh = thành công, đỏ = lỗi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480560"/>
            <a:ext cx="5440680" cy="1234440"/>
          </a:xfrm>
          <a:prstGeom prst="roundRect">
            <a:avLst/>
          </a:prstGeom>
          <a:solidFill>
            <a:srgbClr val="EFF3F9"/>
          </a:solidFill>
          <a:ln w="889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4626864"/>
            <a:ext cx="5029200" cy="4114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1" i="0">
                <a:solidFill>
                  <a:srgbClr val="028090"/>
                </a:solidFill>
                <a:latin typeface="Calibri"/>
              </a:rPr>
              <a:t>Màu trạng thái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047488"/>
            <a:ext cx="5029200" cy="5943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0" i="0">
                <a:solidFill>
                  <a:srgbClr val="222A3A"/>
                </a:solidFill>
                <a:latin typeface="Calibri"/>
              </a:rPr>
              <a:t>Đỏ=thiếu thông tin · xanh lá=chưa NVL · xanh dương=đầy đủ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028090"/>
                </a:solidFill>
                <a:latin typeface="Calibri"/>
              </a:rPr>
              <a:t>ĐIỀU HÀNH SẢN XUẤT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E2761"/>
                </a:solidFill>
                <a:latin typeface="Cambria"/>
              </a:rPr>
              <a:t>Quản đốc &amp; Trưởng ca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5440680" cy="4389120"/>
          </a:xfrm>
          <a:prstGeom prst="roundRect">
            <a:avLst/>
          </a:prstGeom>
          <a:solidFill>
            <a:srgbClr val="EFF3F9"/>
          </a:solidFill>
          <a:ln w="9525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49808" y="1755648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719072"/>
            <a:ext cx="4526280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E2761"/>
                </a:solidFill>
                <a:latin typeface="Calibri"/>
              </a:rPr>
              <a:t>Quản đốc phân xưởng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304288"/>
            <a:ext cx="4983480" cy="3520439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300" b="0" i="0">
                <a:solidFill>
                  <a:srgbClr val="222A3A"/>
                </a:solidFill>
                <a:latin typeface="Calibri"/>
              </a:rPr>
              <a:t>Tạo lệnh SX &amp; Work Order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300" b="0" i="0">
                <a:solidFill>
                  <a:srgbClr val="222A3A"/>
                </a:solidFill>
                <a:latin typeface="Calibri"/>
              </a:rPr>
              <a:t>Dispatch + lập lịch tối ưu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300" b="0" i="0">
                <a:solidFill>
                  <a:srgbClr val="222A3A"/>
                </a:solidFill>
                <a:latin typeface="Calibri"/>
              </a:rPr>
              <a:t>Theo dõi tiến độ mẻ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300" b="0" i="0">
                <a:solidFill>
                  <a:srgbClr val="222A3A"/>
                </a:solidFill>
                <a:latin typeface="Calibri"/>
              </a:rPr>
              <a:t>Mở/đóng deviation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300" b="0" i="0">
                <a:solidFill>
                  <a:srgbClr val="222A3A"/>
                </a:solidFill>
                <a:latin typeface="Calibri"/>
              </a:rPr>
              <a:t>Phê duyệt &amp; KHÓA hồ sơ EBR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300" b="0" i="0">
                <a:solidFill>
                  <a:srgbClr val="222A3A"/>
                </a:solidFill>
                <a:latin typeface="Calibri"/>
              </a:rPr>
              <a:t>(toàn nhà máy)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554480"/>
            <a:ext cx="5440680" cy="4389120"/>
          </a:xfrm>
          <a:prstGeom prst="roundRect">
            <a:avLst/>
          </a:prstGeom>
          <a:solidFill>
            <a:srgbClr val="EFF3F9"/>
          </a:solidFill>
          <a:ln w="9525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373368" y="1755648"/>
            <a:ext cx="457200" cy="45720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1719072"/>
            <a:ext cx="4526280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E2761"/>
                </a:solidFill>
                <a:latin typeface="Calibri"/>
              </a:rPr>
              <a:t>Trưởng ca sản xuất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8232" y="2304288"/>
            <a:ext cx="4983480" cy="3520439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300" b="0" i="0">
                <a:solidFill>
                  <a:srgbClr val="222A3A"/>
                </a:solidFill>
                <a:latin typeface="Calibri"/>
              </a:rPr>
              <a:t>Tạo mẻ (kiểm tra tồn trước)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300" b="0" i="0">
                <a:solidFill>
                  <a:srgbClr val="222A3A"/>
                </a:solidFill>
                <a:latin typeface="Calibri"/>
              </a:rPr>
              <a:t>Đề nghị nhận kho (Kho phân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300" b="0" i="0">
                <a:solidFill>
                  <a:srgbClr val="222A3A"/>
                </a:solidFill>
                <a:latin typeface="Calibri"/>
              </a:rPr>
              <a:t>   xưởng ← Kho công ty)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300" b="0" i="0">
                <a:solidFill>
                  <a:srgbClr val="222A3A"/>
                </a:solidFill>
                <a:latin typeface="Calibri"/>
              </a:rPr>
              <a:t>Consume / produce / actual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300" b="0" i="0">
                <a:solidFill>
                  <a:srgbClr val="222A3A"/>
                </a:solidFill>
                <a:latin typeface="Calibri"/>
              </a:rPr>
              <a:t>Ký điện tử EBR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300" b="0" i="0">
                <a:solidFill>
                  <a:srgbClr val="222A3A"/>
                </a:solidFill>
                <a:latin typeface="Calibri"/>
              </a:rPr>
              <a:t>Phạm vi: Line Nấu 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028090"/>
                </a:solidFill>
                <a:latin typeface="Calibri"/>
              </a:rPr>
              <a:t>THAO TÁC SÀN &amp; CHẤT LƯỢNG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E2761"/>
                </a:solidFill>
                <a:latin typeface="Cambria"/>
              </a:rPr>
              <a:t>Vận hành &amp; KCS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5440680" cy="4389120"/>
          </a:xfrm>
          <a:prstGeom prst="roundRect">
            <a:avLst/>
          </a:prstGeom>
          <a:solidFill>
            <a:srgbClr val="EFF3F9"/>
          </a:solidFill>
          <a:ln w="9525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49808" y="1755648"/>
            <a:ext cx="457200" cy="457200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719072"/>
            <a:ext cx="4526280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E2761"/>
                </a:solidFill>
                <a:latin typeface="Calibri"/>
              </a:rPr>
              <a:t>Nhân viên vận hành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304288"/>
            <a:ext cx="4983480" cy="3520439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300" b="0" i="0">
                <a:solidFill>
                  <a:srgbClr val="222A3A"/>
                </a:solidFill>
                <a:latin typeface="Calibri"/>
              </a:rPr>
              <a:t>Chọn mẻ đang chạy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300" b="0" i="0">
                <a:solidFill>
                  <a:srgbClr val="222A3A"/>
                </a:solidFill>
                <a:latin typeface="Calibri"/>
              </a:rPr>
              <a:t>Consume NVL theo định mức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300" b="0" i="0">
                <a:solidFill>
                  <a:srgbClr val="222A3A"/>
                </a:solidFill>
                <a:latin typeface="Calibri"/>
              </a:rPr>
              <a:t>Ghi actual tham số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300" b="0" i="0">
                <a:solidFill>
                  <a:srgbClr val="222A3A"/>
                </a:solidFill>
                <a:latin typeface="Calibri"/>
              </a:rPr>
              <a:t>Produce lô output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300" b="0" i="0">
                <a:solidFill>
                  <a:srgbClr val="222A3A"/>
                </a:solidFill>
                <a:latin typeface="Calibri"/>
              </a:rPr>
              <a:t>Chạy phase ISA-88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300" b="0" i="0">
                <a:solidFill>
                  <a:srgbClr val="222A3A"/>
                </a:solidFill>
                <a:latin typeface="Calibri"/>
              </a:rPr>
              <a:t>Khuyên dùng giao diện Kiosk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554480"/>
            <a:ext cx="5440680" cy="4389120"/>
          </a:xfrm>
          <a:prstGeom prst="roundRect">
            <a:avLst/>
          </a:prstGeom>
          <a:solidFill>
            <a:srgbClr val="EFF3F9"/>
          </a:solidFill>
          <a:ln w="9525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373368" y="1755648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1719072"/>
            <a:ext cx="4526280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E2761"/>
                </a:solidFill>
                <a:latin typeface="Calibri"/>
              </a:rPr>
              <a:t>Nhân viên KCS / QA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8232" y="2304288"/>
            <a:ext cx="4983480" cy="3520439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300" b="0" i="0">
                <a:solidFill>
                  <a:srgbClr val="222A3A"/>
                </a:solidFill>
                <a:latin typeface="Calibri"/>
              </a:rPr>
              <a:t>Ghi kết quả QC (FAIL → hold)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300" b="0" i="0">
                <a:solidFill>
                  <a:srgbClr val="222A3A"/>
                </a:solidFill>
                <a:latin typeface="Calibri"/>
              </a:rPr>
              <a:t>RELEASE (chặn nếu còn FAIL)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300" b="0" i="0">
                <a:solidFill>
                  <a:srgbClr val="222A3A"/>
                </a:solidFill>
                <a:latin typeface="Calibri"/>
              </a:rPr>
              <a:t>Mở/xử lý deviation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300" b="0" i="0">
                <a:solidFill>
                  <a:srgbClr val="222A3A"/>
                </a:solidFill>
                <a:latin typeface="Calibri"/>
              </a:rPr>
              <a:t>SPC · CAPA · COA · LIMS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300" b="0" i="0">
                <a:solidFill>
                  <a:srgbClr val="222A3A"/>
                </a:solidFill>
                <a:latin typeface="Calibri"/>
              </a:rPr>
              <a:t>Duyệt công thức (≠ tự soạn)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300" b="0" i="0">
                <a:solidFill>
                  <a:srgbClr val="222A3A"/>
                </a:solidFill>
                <a:latin typeface="Calibri"/>
              </a:rPr>
              <a:t>Phạm vi test: Độ đường, pH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028090"/>
                </a:solidFill>
                <a:latin typeface="Calibri"/>
              </a:rPr>
              <a:t>THIẾT KẾ &amp; KHO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E2761"/>
                </a:solidFill>
                <a:latin typeface="Cambria"/>
              </a:rPr>
              <a:t>Kỹ sư &amp; Thủ kho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5440680" cy="4389120"/>
          </a:xfrm>
          <a:prstGeom prst="roundRect">
            <a:avLst/>
          </a:prstGeom>
          <a:solidFill>
            <a:srgbClr val="EFF3F9"/>
          </a:solidFill>
          <a:ln w="9525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49808" y="1755648"/>
            <a:ext cx="457200" cy="45720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719072"/>
            <a:ext cx="4526280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E2761"/>
                </a:solidFill>
                <a:latin typeface="Calibri"/>
              </a:rPr>
              <a:t>Kỹ sư công nghệ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304288"/>
            <a:ext cx="4983480" cy="3520439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300" b="0" i="0">
                <a:solidFill>
                  <a:srgbClr val="222A3A"/>
                </a:solidFill>
                <a:latin typeface="Calibri"/>
              </a:rPr>
              <a:t>Tạo sản phẩm/vật tư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300" b="0" i="0">
                <a:solidFill>
                  <a:srgbClr val="222A3A"/>
                </a:solidFill>
                <a:latin typeface="Calibri"/>
              </a:rPr>
              <a:t>Soạn công thức + BOM + ISA-88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300" b="0" i="0">
                <a:solidFill>
                  <a:srgbClr val="222A3A"/>
                </a:solidFill>
                <a:latin typeface="Calibri"/>
              </a:rPr>
              <a:t>→ review → duyệt → hiệu lực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300" b="0" i="0">
                <a:solidFill>
                  <a:srgbClr val="222A3A"/>
                </a:solidFill>
                <a:latin typeface="Calibri"/>
              </a:rPr>
              <a:t>(không tự duyệt bản mình soạn)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300" b="0" i="0">
                <a:solidFill>
                  <a:srgbClr val="222A3A"/>
                </a:solidFill>
                <a:latin typeface="Calibri"/>
              </a:rPr>
              <a:t>Yield, change-control, NVL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300" b="0" i="0">
                <a:solidFill>
                  <a:srgbClr val="222A3A"/>
                </a:solidFill>
                <a:latin typeface="Calibri"/>
              </a:rPr>
              <a:t>   thay thế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554480"/>
            <a:ext cx="5440680" cy="4389120"/>
          </a:xfrm>
          <a:prstGeom prst="roundRect">
            <a:avLst/>
          </a:prstGeom>
          <a:solidFill>
            <a:srgbClr val="EFF3F9"/>
          </a:solidFill>
          <a:ln w="9525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373368" y="1755648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1719072"/>
            <a:ext cx="4526280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E2761"/>
                </a:solidFill>
                <a:latin typeface="Calibri"/>
              </a:rPr>
              <a:t>Thủ kho NVL (Kho công ty)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8232" y="2304288"/>
            <a:ext cx="4983480" cy="3520439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50" b="0" i="0">
                <a:solidFill>
                  <a:srgbClr val="222A3A"/>
                </a:solidFill>
                <a:latin typeface="Calibri"/>
              </a:rPr>
              <a:t>Nhập/xuất/hoàn/sang ngang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50" b="0" i="0">
                <a:solidFill>
                  <a:srgbClr val="222A3A"/>
                </a:solidFill>
                <a:latin typeface="Calibri"/>
              </a:rPr>
              <a:t>Duyệt đề nghị nhận kho (FIFO)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50" b="0" i="0">
                <a:solidFill>
                  <a:srgbClr val="222A3A"/>
                </a:solidFill>
                <a:latin typeface="Calibri"/>
              </a:rPr>
              <a:t>Kiểm kê định kỳ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50" b="0" i="0">
                <a:solidFill>
                  <a:srgbClr val="222A3A"/>
                </a:solidFill>
                <a:latin typeface="Calibri"/>
              </a:rPr>
              <a:t>Tồn · thẻ kho · hạn dùng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50" b="0" i="0">
                <a:solidFill>
                  <a:srgbClr val="222A3A"/>
                </a:solidFill>
                <a:latin typeface="Calibri"/>
              </a:rPr>
              <a:t>Chặn server nếu thao tác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50" b="0" i="0">
                <a:solidFill>
                  <a:srgbClr val="222A3A"/>
                </a:solidFill>
                <a:latin typeface="Calibri"/>
              </a:rPr>
              <a:t>   sang Kho phân xưởng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50" b="0" i="0">
                <a:solidFill>
                  <a:srgbClr val="222A3A"/>
                </a:solidFill>
                <a:latin typeface="Calibri"/>
              </a:rPr>
              <a:t>(Kho phân xưởng: tài khoản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50" b="0" i="0">
                <a:solidFill>
                  <a:srgbClr val="222A3A"/>
                </a:solidFill>
                <a:latin typeface="Calibri"/>
              </a:rPr>
              <a:t>   thukho_px, đối xứng)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028090"/>
                </a:solidFill>
                <a:latin typeface="Calibri"/>
              </a:rPr>
              <a:t>CÁC CHỨC DANH KHÁC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E2761"/>
                </a:solidFill>
                <a:latin typeface="Cambria"/>
              </a:rPr>
              <a:t>Bảo trì · Năng lượng · Giám đốc · Admin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3529584" cy="4389120"/>
          </a:xfrm>
          <a:prstGeom prst="roundRect">
            <a:avLst/>
          </a:prstGeom>
          <a:solidFill>
            <a:srgbClr val="EFF3F9"/>
          </a:solidFill>
          <a:ln w="9525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49808" y="1755648"/>
            <a:ext cx="457200" cy="45720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719072"/>
            <a:ext cx="2615184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E2761"/>
                </a:solidFill>
                <a:latin typeface="Calibri"/>
              </a:rPr>
              <a:t>Bảo trì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304288"/>
            <a:ext cx="3072384" cy="3520439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50" b="0" i="0">
                <a:solidFill>
                  <a:srgbClr val="222A3A"/>
                </a:solidFill>
                <a:latin typeface="Calibri"/>
              </a:rPr>
              <a:t>Báo cáo + xử lý sự cố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50" b="0" i="0">
                <a:solidFill>
                  <a:srgbClr val="222A3A"/>
                </a:solidFill>
                <a:latin typeface="Calibri"/>
              </a:rPr>
              <a:t>Kế hoạch bảo trì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50" b="0" i="0">
                <a:solidFill>
                  <a:srgbClr val="222A3A"/>
                </a:solidFill>
                <a:latin typeface="Calibri"/>
              </a:rPr>
              <a:t>Kiểm định/hiệu chuẩn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50" b="0" i="0">
                <a:solidFill>
                  <a:srgbClr val="222A3A"/>
                </a:solidFill>
                <a:latin typeface="Calibri"/>
              </a:rPr>
              <a:t>Phụ tùng tồn min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50" b="0" i="0">
                <a:solidFill>
                  <a:srgbClr val="222A3A"/>
                </a:solidFill>
                <a:latin typeface="Calibri"/>
              </a:rPr>
              <a:t>KV: lọc, chiết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5112" y="1554480"/>
            <a:ext cx="3529584" cy="4389120"/>
          </a:xfrm>
          <a:prstGeom prst="roundRect">
            <a:avLst/>
          </a:prstGeom>
          <a:solidFill>
            <a:srgbClr val="EFF3F9"/>
          </a:solidFill>
          <a:ln w="9525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526280" y="1755648"/>
            <a:ext cx="457200" cy="457200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02352" y="1719072"/>
            <a:ext cx="2615184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E2761"/>
                </a:solidFill>
                <a:latin typeface="Calibri"/>
              </a:rPr>
              <a:t>Năng lượng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81144" y="2304288"/>
            <a:ext cx="3072384" cy="3520439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50" b="0" i="0">
                <a:solidFill>
                  <a:srgbClr val="222A3A"/>
                </a:solidFill>
                <a:latin typeface="Calibri"/>
              </a:rPr>
              <a:t>Cập nhật số liệu ngày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50" b="0" i="0">
                <a:solidFill>
                  <a:srgbClr val="222A3A"/>
                </a:solidFill>
                <a:latin typeface="Calibri"/>
              </a:rPr>
              <a:t>Biểu đồ ngày/tháng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50" b="0" i="0">
                <a:solidFill>
                  <a:srgbClr val="222A3A"/>
                </a:solidFill>
                <a:latin typeface="Calibri"/>
              </a:rPr>
              <a:t>Quản danh mục nhóm/khu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50" b="0" i="0">
                <a:solidFill>
                  <a:srgbClr val="222A3A"/>
                </a:solidFill>
                <a:latin typeface="Calibri"/>
              </a:rPr>
              <a:t>KV: nấu, lên men, chiết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1583" y="1554480"/>
            <a:ext cx="3529584" cy="4389120"/>
          </a:xfrm>
          <a:prstGeom prst="roundRect">
            <a:avLst/>
          </a:prstGeom>
          <a:solidFill>
            <a:srgbClr val="EFF3F9"/>
          </a:solidFill>
          <a:ln w="9525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302752" y="1755648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78824" y="1719072"/>
            <a:ext cx="2615184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E2761"/>
                </a:solidFill>
                <a:latin typeface="Calibri"/>
              </a:rPr>
              <a:t>Giám đốc &amp; Admin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7615" y="2304288"/>
            <a:ext cx="3072384" cy="3520439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150" b="0" i="0">
                <a:solidFill>
                  <a:srgbClr val="222A3A"/>
                </a:solidFill>
                <a:latin typeface="Calibri"/>
              </a:rPr>
              <a:t>Giám đốc: chỉ xem —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150" b="0" i="0">
                <a:solidFill>
                  <a:srgbClr val="222A3A"/>
                </a:solidFill>
                <a:latin typeface="Calibri"/>
              </a:rPr>
              <a:t>   KPI, OEE, BC, truy xuất, AI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150" b="0" i="0">
                <a:solidFill>
                  <a:srgbClr val="222A3A"/>
                </a:solidFill>
                <a:latin typeface="Calibri"/>
              </a:rPr>
              <a:t>Admin: quản lý tài khoản,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150" b="0" i="0">
                <a:solidFill>
                  <a:srgbClr val="222A3A"/>
                </a:solidFill>
                <a:latin typeface="Calibri"/>
              </a:rPr>
              <a:t>   quyền, scope, API key,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150" b="0" i="0">
                <a:solidFill>
                  <a:srgbClr val="222A3A"/>
                </a:solidFill>
                <a:latin typeface="Calibri"/>
              </a:rPr>
              <a:t>   webhook, audit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150" b="0" i="0">
                <a:solidFill>
                  <a:srgbClr val="222A3A"/>
                </a:solidFill>
                <a:latin typeface="Calibri"/>
              </a:rPr>
              <a:t>Copy quyền: nhân bản cấu hình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150" b="0" i="0">
                <a:solidFill>
                  <a:srgbClr val="222A3A"/>
                </a:solidFill>
                <a:latin typeface="Calibri"/>
              </a:rPr>
              <a:t>   1 tài khoản sang tài khoản khác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028090"/>
                </a:solidFill>
                <a:latin typeface="Calibri"/>
              </a:rPr>
              <a:t>AI LÀM GÌ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E2761"/>
                </a:solidFill>
                <a:latin typeface="Cambria"/>
              </a:rPr>
              <a:t>Quy trình end-to-end một mẻ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1327708" cy="420624"/>
          </a:xfrm>
          <a:prstGeom prst="rect">
            <a:avLst/>
          </a:prstGeom>
          <a:solidFill>
            <a:srgbClr val="1E2761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1554480"/>
            <a:ext cx="1199692" cy="42062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Bước</a:t>
            </a:r>
          </a:p>
        </p:txBody>
      </p:sp>
      <p:sp>
        <p:nvSpPr>
          <p:cNvPr id="7" name="Rectangle 6"/>
          <p:cNvSpPr/>
          <p:nvPr/>
        </p:nvSpPr>
        <p:spPr>
          <a:xfrm>
            <a:off x="1876348" y="1554480"/>
            <a:ext cx="3319272" cy="420624"/>
          </a:xfrm>
          <a:prstGeom prst="rect">
            <a:avLst/>
          </a:prstGeom>
          <a:solidFill>
            <a:srgbClr val="1E2761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49500" y="1554480"/>
            <a:ext cx="3191256" cy="42062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Người</a:t>
            </a:r>
          </a:p>
        </p:txBody>
      </p:sp>
      <p:sp>
        <p:nvSpPr>
          <p:cNvPr id="9" name="Rectangle 8"/>
          <p:cNvSpPr/>
          <p:nvPr/>
        </p:nvSpPr>
        <p:spPr>
          <a:xfrm>
            <a:off x="5195620" y="1554480"/>
            <a:ext cx="6417259" cy="420624"/>
          </a:xfrm>
          <a:prstGeom prst="rect">
            <a:avLst/>
          </a:prstGeom>
          <a:solidFill>
            <a:srgbClr val="1E2761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68772" y="1554480"/>
            <a:ext cx="6289243" cy="42062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Thao tác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975104"/>
            <a:ext cx="1327708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1975104"/>
            <a:ext cx="1199692" cy="39319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222A3A"/>
                </a:solidFill>
                <a:latin typeface="Calibri"/>
              </a:rPr>
              <a:t>1-2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76348" y="1975104"/>
            <a:ext cx="3319272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949500" y="1975104"/>
            <a:ext cx="3191256" cy="39319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222A3A"/>
                </a:solidFill>
                <a:latin typeface="Calibri"/>
              </a:rPr>
              <a:t>Quản đốc / Trưởng ca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95620" y="1975104"/>
            <a:ext cx="6417259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68772" y="1975104"/>
            <a:ext cx="6289243" cy="39319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222A3A"/>
                </a:solidFill>
                <a:latin typeface="Calibri"/>
              </a:rPr>
              <a:t>Tạo lệnh SX → Work Order → phát hành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368296"/>
            <a:ext cx="1327708" cy="393192"/>
          </a:xfrm>
          <a:prstGeom prst="rect">
            <a:avLst/>
          </a:prstGeom>
          <a:solidFill>
            <a:srgbClr val="EFF3F9"/>
          </a:solidFill>
          <a:ln w="635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" y="2368296"/>
            <a:ext cx="1199692" cy="39319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222A3A"/>
                </a:solidFill>
                <a:latin typeface="Calibri"/>
              </a:rPr>
              <a:t>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76348" y="2368296"/>
            <a:ext cx="3319272" cy="393192"/>
          </a:xfrm>
          <a:prstGeom prst="rect">
            <a:avLst/>
          </a:prstGeom>
          <a:solidFill>
            <a:srgbClr val="EFF3F9"/>
          </a:solidFill>
          <a:ln w="635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949500" y="2368296"/>
            <a:ext cx="3191256" cy="39319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222A3A"/>
                </a:solidFill>
                <a:latin typeface="Calibri"/>
              </a:rPr>
              <a:t>Thủ kho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195620" y="2368296"/>
            <a:ext cx="6417259" cy="393192"/>
          </a:xfrm>
          <a:prstGeom prst="rect">
            <a:avLst/>
          </a:prstGeom>
          <a:solidFill>
            <a:srgbClr val="EFF3F9"/>
          </a:solidFill>
          <a:ln w="635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68772" y="2368296"/>
            <a:ext cx="6289243" cy="39319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222A3A"/>
                </a:solidFill>
                <a:latin typeface="Calibri"/>
              </a:rPr>
              <a:t>Đảm bảo NVL đã nhập kho, còn hạn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2761488"/>
            <a:ext cx="1327708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" y="2761488"/>
            <a:ext cx="1199692" cy="39319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222A3A"/>
                </a:solidFill>
                <a:latin typeface="Calibri"/>
              </a:rPr>
              <a:t>4-5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76348" y="2761488"/>
            <a:ext cx="3319272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949500" y="2761488"/>
            <a:ext cx="3191256" cy="39319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222A3A"/>
                </a:solidFill>
                <a:latin typeface="Calibri"/>
              </a:rPr>
              <a:t>Trưởng ca / Vận hành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195620" y="2761488"/>
            <a:ext cx="6417259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68772" y="2761488"/>
            <a:ext cx="6289243" cy="39319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222A3A"/>
                </a:solidFill>
                <a:latin typeface="Calibri"/>
              </a:rPr>
              <a:t>Kiểm tra tồn → tạo mẻ → cấp liệu (FEFO)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3154680"/>
            <a:ext cx="1327708" cy="393192"/>
          </a:xfrm>
          <a:prstGeom prst="rect">
            <a:avLst/>
          </a:prstGeom>
          <a:solidFill>
            <a:srgbClr val="EFF3F9"/>
          </a:solidFill>
          <a:ln w="635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" y="3154680"/>
            <a:ext cx="1199692" cy="39319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222A3A"/>
                </a:solidFill>
                <a:latin typeface="Calibri"/>
              </a:rPr>
              <a:t>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876348" y="3154680"/>
            <a:ext cx="3319272" cy="393192"/>
          </a:xfrm>
          <a:prstGeom prst="rect">
            <a:avLst/>
          </a:prstGeom>
          <a:solidFill>
            <a:srgbClr val="EFF3F9"/>
          </a:solidFill>
          <a:ln w="635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949500" y="3154680"/>
            <a:ext cx="3191256" cy="39319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222A3A"/>
                </a:solidFill>
                <a:latin typeface="Calibri"/>
              </a:rPr>
              <a:t>Vận hành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195620" y="3154680"/>
            <a:ext cx="6417259" cy="393192"/>
          </a:xfrm>
          <a:prstGeom prst="rect">
            <a:avLst/>
          </a:prstGeom>
          <a:solidFill>
            <a:srgbClr val="EFF3F9"/>
          </a:solidFill>
          <a:ln w="635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268772" y="3154680"/>
            <a:ext cx="6289243" cy="39319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222A3A"/>
                </a:solidFill>
                <a:latin typeface="Calibri"/>
              </a:rPr>
              <a:t>Chạy phase · ghi actual · consume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3547872"/>
            <a:ext cx="1327708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1792" y="3547872"/>
            <a:ext cx="1199692" cy="39319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222A3A"/>
                </a:solidFill>
                <a:latin typeface="Calibri"/>
              </a:rPr>
              <a:t>7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876348" y="3547872"/>
            <a:ext cx="3319272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949500" y="3547872"/>
            <a:ext cx="3191256" cy="39319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222A3A"/>
                </a:solidFill>
                <a:latin typeface="Calibri"/>
              </a:rPr>
              <a:t>KCS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195620" y="3547872"/>
            <a:ext cx="6417259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268772" y="3547872"/>
            <a:ext cx="6289243" cy="39319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222A3A"/>
                </a:solidFill>
                <a:latin typeface="Calibri"/>
              </a:rPr>
              <a:t>Ghi QC; xử lý deviation nếu FAIL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3941064"/>
            <a:ext cx="1327708" cy="393192"/>
          </a:xfrm>
          <a:prstGeom prst="rect">
            <a:avLst/>
          </a:prstGeom>
          <a:solidFill>
            <a:srgbClr val="EFF3F9"/>
          </a:solidFill>
          <a:ln w="635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1792" y="3941064"/>
            <a:ext cx="1199692" cy="39319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222A3A"/>
                </a:solidFill>
                <a:latin typeface="Calibri"/>
              </a:rPr>
              <a:t>8-9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876348" y="3941064"/>
            <a:ext cx="3319272" cy="393192"/>
          </a:xfrm>
          <a:prstGeom prst="rect">
            <a:avLst/>
          </a:prstGeom>
          <a:solidFill>
            <a:srgbClr val="EFF3F9"/>
          </a:solidFill>
          <a:ln w="635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949500" y="3941064"/>
            <a:ext cx="3191256" cy="39319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222A3A"/>
                </a:solidFill>
                <a:latin typeface="Calibri"/>
              </a:rPr>
              <a:t>Vận hành / KCS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195620" y="3941064"/>
            <a:ext cx="6417259" cy="393192"/>
          </a:xfrm>
          <a:prstGeom prst="rect">
            <a:avLst/>
          </a:prstGeom>
          <a:solidFill>
            <a:srgbClr val="EFF3F9"/>
          </a:solidFill>
          <a:ln w="635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268772" y="3941064"/>
            <a:ext cx="6289243" cy="39319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222A3A"/>
                </a:solidFill>
                <a:latin typeface="Calibri"/>
              </a:rPr>
              <a:t>Produce lô → RELEASE (hết FAIL)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8640" y="4334256"/>
            <a:ext cx="1327708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1792" y="4334256"/>
            <a:ext cx="1199692" cy="39319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222A3A"/>
                </a:solidFill>
                <a:latin typeface="Calibri"/>
              </a:rPr>
              <a:t>10-12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876348" y="4334256"/>
            <a:ext cx="3319272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949500" y="4334256"/>
            <a:ext cx="3191256" cy="39319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222A3A"/>
                </a:solidFill>
                <a:latin typeface="Calibri"/>
              </a:rPr>
              <a:t>Vận hành / Quản đốc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195620" y="4334256"/>
            <a:ext cx="6417259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268772" y="4334256"/>
            <a:ext cx="6289243" cy="39319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222A3A"/>
                </a:solidFill>
                <a:latin typeface="Calibri"/>
              </a:rPr>
              <a:t>completed → ký EBR → khóa → closed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48640" y="4727448"/>
            <a:ext cx="1327708" cy="393192"/>
          </a:xfrm>
          <a:prstGeom prst="rect">
            <a:avLst/>
          </a:prstGeom>
          <a:solidFill>
            <a:srgbClr val="EFF3F9"/>
          </a:solidFill>
          <a:ln w="635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21792" y="4727448"/>
            <a:ext cx="1199692" cy="39319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222A3A"/>
                </a:solidFill>
                <a:latin typeface="Calibri"/>
              </a:rPr>
              <a:t>13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876348" y="4727448"/>
            <a:ext cx="3319272" cy="393192"/>
          </a:xfrm>
          <a:prstGeom prst="rect">
            <a:avLst/>
          </a:prstGeom>
          <a:solidFill>
            <a:srgbClr val="EFF3F9"/>
          </a:solidFill>
          <a:ln w="635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949500" y="4727448"/>
            <a:ext cx="3191256" cy="39319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222A3A"/>
                </a:solidFill>
                <a:latin typeface="Calibri"/>
              </a:rPr>
              <a:t>Thủ kho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195620" y="4727448"/>
            <a:ext cx="6417259" cy="393192"/>
          </a:xfrm>
          <a:prstGeom prst="rect">
            <a:avLst/>
          </a:prstGeom>
          <a:solidFill>
            <a:srgbClr val="EFF3F9"/>
          </a:solidFill>
          <a:ln w="635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268772" y="4727448"/>
            <a:ext cx="6289243" cy="39319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222A3A"/>
                </a:solidFill>
                <a:latin typeface="Calibri"/>
              </a:rPr>
              <a:t>Nhập kho theo lô, cất vị trí, in tem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028090"/>
                </a:solidFill>
                <a:latin typeface="Calibri"/>
              </a:rPr>
              <a:t>/KIOSK.HTML — MÀN HÌNH CẢM ỨNG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E2761"/>
                </a:solidFill>
                <a:latin typeface="Cambria"/>
              </a:rPr>
              <a:t>Kiosk xưởng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2697480" cy="4023360"/>
          </a:xfrm>
          <a:prstGeom prst="roundRect">
            <a:avLst/>
          </a:prstGeom>
          <a:solidFill>
            <a:srgbClr val="EFF3F9"/>
          </a:solidFill>
          <a:ln w="9525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49808" y="1892808"/>
            <a:ext cx="457200" cy="45720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856232"/>
            <a:ext cx="1783080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E2761"/>
                </a:solidFill>
                <a:latin typeface="Calibri"/>
              </a:rPr>
              <a:t>Quét mã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441448"/>
            <a:ext cx="2240280" cy="31546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50" b="0" i="0">
                <a:solidFill>
                  <a:srgbClr val="222A3A"/>
                </a:solidFill>
                <a:latin typeface="Calibri"/>
              </a:rPr>
              <a:t>Bắn mã / gõ + Enter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50" b="0" i="0">
                <a:solidFill>
                  <a:srgbClr val="222A3A"/>
                </a:solidFill>
                <a:latin typeface="Calibri"/>
              </a:rPr>
              <a:t>Tự phân giải lô/mẻ/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50" b="0" i="0">
                <a:solidFill>
                  <a:srgbClr val="222A3A"/>
                </a:solidFill>
                <a:latin typeface="Calibri"/>
              </a:rPr>
              <a:t>   WO/đơn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50" b="0" i="0">
                <a:solidFill>
                  <a:srgbClr val="222A3A"/>
                </a:solidFill>
                <a:latin typeface="Calibri"/>
              </a:rPr>
              <a:t>Cấp liệu nhanh nút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50" b="0" i="0">
                <a:solidFill>
                  <a:srgbClr val="222A3A"/>
                </a:solidFill>
                <a:latin typeface="Calibri"/>
              </a:rPr>
              <a:t>   SL lớn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6432" y="1691640"/>
            <a:ext cx="2697480" cy="4023360"/>
          </a:xfrm>
          <a:prstGeom prst="roundRect">
            <a:avLst/>
          </a:prstGeom>
          <a:solidFill>
            <a:srgbClr val="EFF3F9"/>
          </a:solidFill>
          <a:ln w="9525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657600" y="1892808"/>
            <a:ext cx="457200" cy="457200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🏷️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33672" y="1856232"/>
            <a:ext cx="1783080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E2761"/>
                </a:solidFill>
                <a:latin typeface="Calibri"/>
              </a:rPr>
              <a:t>In 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12463" y="2441448"/>
            <a:ext cx="2240280" cy="31546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50" b="0" i="0">
                <a:solidFill>
                  <a:srgbClr val="222A3A"/>
                </a:solidFill>
                <a:latin typeface="Calibri"/>
              </a:rPr>
              <a:t>Nhập mã → Tạo tem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50" b="0" i="0">
                <a:solidFill>
                  <a:srgbClr val="222A3A"/>
                </a:solidFill>
                <a:latin typeface="Calibri"/>
              </a:rPr>
              <a:t>Code39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50" b="0" i="0">
                <a:solidFill>
                  <a:srgbClr val="222A3A"/>
                </a:solidFill>
                <a:latin typeface="Calibri"/>
              </a:rPr>
              <a:t>In trực tiếp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64224" y="1691640"/>
            <a:ext cx="2697480" cy="4023360"/>
          </a:xfrm>
          <a:prstGeom prst="roundRect">
            <a:avLst/>
          </a:prstGeom>
          <a:solidFill>
            <a:srgbClr val="EFF3F9"/>
          </a:solidFill>
          <a:ln w="9525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565392" y="1892808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⚗️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41464" y="1856232"/>
            <a:ext cx="1783080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E2761"/>
                </a:solidFill>
                <a:latin typeface="Calibri"/>
              </a:rPr>
              <a:t>Mẻ chạy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0256" y="2441448"/>
            <a:ext cx="2240280" cy="31546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50" b="0" i="0">
                <a:solidFill>
                  <a:srgbClr val="222A3A"/>
                </a:solidFill>
                <a:latin typeface="Calibri"/>
              </a:rPr>
              <a:t>Xem nhanh các mẻ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50" b="0" i="0">
                <a:solidFill>
                  <a:srgbClr val="222A3A"/>
                </a:solidFill>
                <a:latin typeface="Calibri"/>
              </a:rPr>
              <a:t>đang chạy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72016" y="1691640"/>
            <a:ext cx="2359152" cy="4023360"/>
          </a:xfrm>
          <a:prstGeom prst="roundRect">
            <a:avLst/>
          </a:prstGeom>
          <a:solidFill>
            <a:srgbClr val="EFF3F9"/>
          </a:solidFill>
          <a:ln w="9525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473184" y="1892808"/>
            <a:ext cx="457200" cy="457200"/>
          </a:xfrm>
          <a:prstGeom prst="ellipse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49256" y="1856232"/>
            <a:ext cx="1444752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E2761"/>
                </a:solidFill>
                <a:latin typeface="Calibri"/>
              </a:rPr>
              <a:t>Bản đầy đủ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28048" y="2441448"/>
            <a:ext cx="1901952" cy="31546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50" b="0" i="0">
                <a:solidFill>
                  <a:srgbClr val="222A3A"/>
                </a:solidFill>
                <a:latin typeface="Calibri"/>
              </a:rPr>
              <a:t>Quay lại UI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50" b="0" i="0">
                <a:solidFill>
                  <a:srgbClr val="222A3A"/>
                </a:solidFill>
                <a:latin typeface="Calibri"/>
              </a:rPr>
              <a:t>chính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37376"/>
            <a:ext cx="11064240" cy="292608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5A6372"/>
                </a:solidFill>
                <a:latin typeface="Calibri"/>
              </a:rPr>
              <a:t>Tối ưu cho tablet/máy quét tại sàn — đăng nhập bằng tài khoản của bạn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028090"/>
                </a:solidFill>
                <a:latin typeface="Calibri"/>
              </a:rPr>
              <a:t>HỎI-ĐÁP + CẢNH BÁO VẬN HÀNH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E2761"/>
                </a:solidFill>
                <a:latin typeface="Cambria"/>
              </a:rPr>
              <a:t>Trợ lý 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5440680" cy="3840480"/>
          </a:xfrm>
          <a:prstGeom prst="roundRect">
            <a:avLst/>
          </a:prstGeom>
          <a:solidFill>
            <a:srgbClr val="EFF3F9"/>
          </a:solidFill>
          <a:ln w="9525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49808" y="1892808"/>
            <a:ext cx="457200" cy="45720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856232"/>
            <a:ext cx="4526280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E2761"/>
                </a:solidFill>
                <a:latin typeface="Calibri"/>
              </a:rPr>
              <a:t>Khung chat (trái)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441448"/>
            <a:ext cx="4983480" cy="29718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300" b="0" i="0">
                <a:solidFill>
                  <a:srgbClr val="222A3A"/>
                </a:solidFill>
                <a:latin typeface="Calibri"/>
              </a:rPr>
              <a:t>Tạo / chọn hội thoại (lưu server)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300" b="0" i="0">
                <a:solidFill>
                  <a:srgbClr val="222A3A"/>
                </a:solidFill>
                <a:latin typeface="Calibri"/>
              </a:rPr>
              <a:t>Gõ câu hỏi → Gửi (hiện dần)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300" b="0" i="0">
                <a:solidFill>
                  <a:srgbClr val="222A3A"/>
                </a:solidFill>
                <a:latin typeface="Calibri"/>
              </a:rPr>
              <a:t>Hiện tool AI đã dùng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300" b="0" i="0">
                <a:solidFill>
                  <a:srgbClr val="222A3A"/>
                </a:solidFill>
                <a:latin typeface="Calibri"/>
              </a:rPr>
              <a:t>Còn nguyên khi tải lại / đổi máy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691640"/>
            <a:ext cx="5440680" cy="3840480"/>
          </a:xfrm>
          <a:prstGeom prst="roundRect">
            <a:avLst/>
          </a:prstGeom>
          <a:solidFill>
            <a:srgbClr val="EFF3F9"/>
          </a:solidFill>
          <a:ln w="9525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373368" y="1892808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1856232"/>
            <a:ext cx="4526280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E2761"/>
                </a:solidFill>
                <a:latin typeface="Calibri"/>
              </a:rPr>
              <a:t>Cảnh báo (phải)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8232" y="2441448"/>
            <a:ext cx="4983480" cy="29718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300" b="0" i="0">
                <a:solidFill>
                  <a:srgbClr val="222A3A"/>
                </a:solidFill>
                <a:latin typeface="Calibri"/>
              </a:rPr>
              <a:t>3 mức: Cao / TB / Thấp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300" b="0" i="0">
                <a:solidFill>
                  <a:srgbClr val="222A3A"/>
                </a:solidFill>
                <a:latin typeface="Calibri"/>
              </a:rPr>
              <a:t>Miền · phát hiện · đề xuất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300" b="0" i="0">
                <a:solidFill>
                  <a:srgbClr val="222A3A"/>
                </a:solidFill>
                <a:latin typeface="Calibri"/>
              </a:rPr>
              <a:t>Nút Báo cáo nền (job async)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300" b="0" i="0">
                <a:solidFill>
                  <a:srgbClr val="222A3A"/>
                </a:solidFill>
                <a:latin typeface="Calibri"/>
              </a:rPr>
              <a:t>AI chỉ tư vấn — không tự đổi dữ liệu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37376"/>
            <a:ext cx="11064240" cy="292608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5A6372"/>
                </a:solidFill>
                <a:latin typeface="Calibri"/>
              </a:rPr>
              <a:t>Không có API key → engine luật offline · có hạn mức chat/ngày để kiểm soát chi phí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028090"/>
                </a:solidFill>
                <a:latin typeface="Calibri"/>
              </a:rP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E2761"/>
                </a:solidFill>
                <a:latin typeface="Cambria"/>
              </a:rPr>
              <a:t>Xử lý sự cố thường gặp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4646980" cy="420624"/>
          </a:xfrm>
          <a:prstGeom prst="rect">
            <a:avLst/>
          </a:prstGeom>
          <a:solidFill>
            <a:srgbClr val="1E2761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1554480"/>
            <a:ext cx="4518964" cy="42062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Tình huống</a:t>
            </a:r>
          </a:p>
        </p:txBody>
      </p:sp>
      <p:sp>
        <p:nvSpPr>
          <p:cNvPr id="7" name="Rectangle 6"/>
          <p:cNvSpPr/>
          <p:nvPr/>
        </p:nvSpPr>
        <p:spPr>
          <a:xfrm>
            <a:off x="5195620" y="1554480"/>
            <a:ext cx="6417259" cy="420624"/>
          </a:xfrm>
          <a:prstGeom prst="rect">
            <a:avLst/>
          </a:prstGeom>
          <a:solidFill>
            <a:srgbClr val="1E2761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68772" y="1554480"/>
            <a:ext cx="6289243" cy="42062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Cách xử lý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975104"/>
            <a:ext cx="464698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1975104"/>
            <a:ext cx="4518964" cy="39319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222A3A"/>
                </a:solidFill>
                <a:latin typeface="Calibri"/>
              </a:rPr>
              <a:t>Không thấy một tab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95620" y="1975104"/>
            <a:ext cx="6417259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68772" y="1975104"/>
            <a:ext cx="6289243" cy="39319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222A3A"/>
                </a:solidFill>
                <a:latin typeface="Calibri"/>
              </a:rPr>
              <a:t>Chức danh không được cấp menu — nhờ admin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368296"/>
            <a:ext cx="4646980" cy="393192"/>
          </a:xfrm>
          <a:prstGeom prst="rect">
            <a:avLst/>
          </a:prstGeom>
          <a:solidFill>
            <a:srgbClr val="EFF3F9"/>
          </a:solidFill>
          <a:ln w="635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2368296"/>
            <a:ext cx="4518964" cy="39319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222A3A"/>
                </a:solidFill>
                <a:latin typeface="Calibri"/>
              </a:rPr>
              <a:t>Bấm nút → 'không đủ quyền' (403)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95620" y="2368296"/>
            <a:ext cx="6417259" cy="393192"/>
          </a:xfrm>
          <a:prstGeom prst="rect">
            <a:avLst/>
          </a:prstGeom>
          <a:solidFill>
            <a:srgbClr val="EFF3F9"/>
          </a:solidFill>
          <a:ln w="635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68772" y="2368296"/>
            <a:ext cx="6289243" cy="39319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222A3A"/>
                </a:solidFill>
                <a:latin typeface="Calibri"/>
              </a:rPr>
              <a:t>Thiếu quyền thao tác — nhờ admin gán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761488"/>
            <a:ext cx="464698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" y="2761488"/>
            <a:ext cx="4518964" cy="39319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222A3A"/>
                </a:solidFill>
                <a:latin typeface="Calibri"/>
              </a:rPr>
              <a:t>Không thấy mẻ line khác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95620" y="2761488"/>
            <a:ext cx="6417259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68772" y="2761488"/>
            <a:ext cx="6289243" cy="39319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222A3A"/>
                </a:solidFill>
                <a:latin typeface="Calibri"/>
              </a:rPr>
              <a:t>Phạm vi (scope) giới hạn — đúng thiết kế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154680"/>
            <a:ext cx="4646980" cy="393192"/>
          </a:xfrm>
          <a:prstGeom prst="rect">
            <a:avLst/>
          </a:prstGeom>
          <a:solidFill>
            <a:srgbClr val="EFF3F9"/>
          </a:solidFill>
          <a:ln w="635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" y="3154680"/>
            <a:ext cx="4518964" cy="39319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222A3A"/>
                </a:solidFill>
                <a:latin typeface="Calibri"/>
              </a:rPr>
              <a:t>Không duyệt/khóa được việc mình làm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95620" y="3154680"/>
            <a:ext cx="6417259" cy="393192"/>
          </a:xfrm>
          <a:prstGeom prst="rect">
            <a:avLst/>
          </a:prstGeom>
          <a:solidFill>
            <a:srgbClr val="EFF3F9"/>
          </a:solidFill>
          <a:ln w="635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268772" y="3154680"/>
            <a:ext cx="6289243" cy="39319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222A3A"/>
                </a:solidFill>
                <a:latin typeface="Calibri"/>
              </a:rPr>
              <a:t>Phân tách nhiệm vụ (SoD) — nhờ người khác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547872"/>
            <a:ext cx="464698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" y="3547872"/>
            <a:ext cx="4518964" cy="39319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222A3A"/>
                </a:solidFill>
                <a:latin typeface="Calibri"/>
              </a:rPr>
              <a:t>Tạo mẻ báo 'thiếu tồn' (409)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195620" y="3547872"/>
            <a:ext cx="6417259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68772" y="3547872"/>
            <a:ext cx="6289243" cy="39319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222A3A"/>
                </a:solidFill>
                <a:latin typeface="Calibri"/>
              </a:rPr>
              <a:t>Nhập kho thêm hoặc xác nhận cho phép thiếu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3941064"/>
            <a:ext cx="4646980" cy="393192"/>
          </a:xfrm>
          <a:prstGeom prst="rect">
            <a:avLst/>
          </a:prstGeom>
          <a:solidFill>
            <a:srgbClr val="EFF3F9"/>
          </a:solidFill>
          <a:ln w="635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" y="3941064"/>
            <a:ext cx="4518964" cy="39319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222A3A"/>
                </a:solidFill>
                <a:latin typeface="Calibri"/>
              </a:rPr>
              <a:t>Release bị chặn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195620" y="3941064"/>
            <a:ext cx="6417259" cy="393192"/>
          </a:xfrm>
          <a:prstGeom prst="rect">
            <a:avLst/>
          </a:prstGeom>
          <a:solidFill>
            <a:srgbClr val="EFF3F9"/>
          </a:solidFill>
          <a:ln w="635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68772" y="3941064"/>
            <a:ext cx="6289243" cy="39319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222A3A"/>
                </a:solidFill>
                <a:latin typeface="Calibri"/>
              </a:rPr>
              <a:t>Đóng deviation (hết FAIL) rồi release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4334256"/>
            <a:ext cx="464698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1792" y="4334256"/>
            <a:ext cx="4518964" cy="39319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222A3A"/>
                </a:solidFill>
                <a:latin typeface="Calibri"/>
              </a:rPr>
              <a:t>Mẻ không sửa được nữa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195620" y="4334256"/>
            <a:ext cx="6417259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268772" y="4334256"/>
            <a:ext cx="6289243" cy="39319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222A3A"/>
                </a:solidFill>
                <a:latin typeface="Calibri"/>
              </a:rPr>
              <a:t>EBR đã khóa → mẻ bất biến, chỉ amendment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4727448"/>
            <a:ext cx="4646980" cy="393192"/>
          </a:xfrm>
          <a:prstGeom prst="rect">
            <a:avLst/>
          </a:prstGeom>
          <a:solidFill>
            <a:srgbClr val="EFF3F9"/>
          </a:solidFill>
          <a:ln w="635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1792" y="4727448"/>
            <a:ext cx="4518964" cy="39319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222A3A"/>
                </a:solidFill>
                <a:latin typeface="Calibri"/>
              </a:rPr>
              <a:t>AI báo hết lượt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195620" y="4727448"/>
            <a:ext cx="6417259" cy="393192"/>
          </a:xfrm>
          <a:prstGeom prst="rect">
            <a:avLst/>
          </a:prstGeom>
          <a:solidFill>
            <a:srgbClr val="EFF3F9"/>
          </a:solidFill>
          <a:ln w="635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268772" y="4727448"/>
            <a:ext cx="6289243" cy="39319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222A3A"/>
                </a:solidFill>
                <a:latin typeface="Calibri"/>
              </a:rPr>
              <a:t>Vượt hạn mức/ngày — chờ hoặc tăng quota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846320" y="1554480"/>
            <a:ext cx="1371600" cy="137160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3400" b="1">
                <a:solidFill>
                  <a:srgbClr val="FFFFFF"/>
                </a:solidFill>
                <a:latin typeface="Calibri"/>
              </a:rPr>
              <a:t>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108960"/>
            <a:ext cx="10332720" cy="9144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Cambria"/>
              </a:rPr>
              <a:t>Sẵn sàng vận hành 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332720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CADCFC"/>
                </a:solidFill>
                <a:latin typeface="Calibri"/>
              </a:rPr>
              <a:t>Đọc chi tiết trong Sách Hướng dẫn Sử dụng · Tài liệu API tại /docs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126480"/>
            <a:ext cx="1033272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CADCFC"/>
                </a:solidFill>
                <a:latin typeface="Calibri"/>
              </a:rPr>
              <a:t>MES Bia Hạ Long · Nhà Máy Đông Mai · 0.1.0-mvp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