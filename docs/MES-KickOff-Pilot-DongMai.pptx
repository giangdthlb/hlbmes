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405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463040"/>
            <a:ext cx="4937760" cy="4937760"/>
          </a:xfrm>
          <a:prstGeom prst="ellipse">
            <a:avLst/>
          </a:prstGeom>
          <a:solidFill>
            <a:srgbClr val="161D4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271455" y="3566160"/>
            <a:ext cx="2743200" cy="2743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🍺 MES BIA HẠ LONG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8778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Kick-off Thử nghiệm</a:t>
            </a:r>
            <a:endParaRPr lang="en-US" sz="42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Phần mềm Quản lý Sản xuất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Nhà máy Đông Mai  ·  Giai đoạn Pilot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4663440" cy="1234440"/>
          </a:xfrm>
          <a:prstGeom prst="roundRect">
            <a:avLst>
              <a:gd name="adj" fmla="val 6667"/>
            </a:avLst>
          </a:prstGeom>
          <a:solidFill>
            <a:srgbClr val="161D49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14400" y="50749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31/07/2026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54864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kick-off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50749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Phó Giám đốc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bị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57424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trình kế hoạch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778240" y="502920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2A9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8778240" y="51389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ĐÃ PHÊ DUYỆT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78240" y="5486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Phiếu TT-2026-1152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TÌNH TRẠNG PHÊ DUYỆT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Đã được phê duyệt chính thức — sẵn sàng khởi động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246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68680" y="17373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TT-2026-1152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phiếu phê duyệt nội bộ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60520" y="1600200"/>
            <a:ext cx="3246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389120" y="1737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28/07 → 31/07/2026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389120" y="2331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duyệt  →  Ngày khởi động pilot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0" y="1600200"/>
            <a:ext cx="3794760" cy="1371600"/>
          </a:xfrm>
          <a:prstGeom prst="roundRect">
            <a:avLst>
              <a:gd name="adj" fmla="val 6000"/>
            </a:avLst>
          </a:prstGeom>
          <a:solidFill>
            <a:srgbClr val="00A896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909560" y="1783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ĐÃ DUYỆT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909560" y="2331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Chứng thực điện tử 15:44 28/07/2026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 phê duyệt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255643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1836001" y="3858768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77240" y="4114800"/>
            <a:ext cx="22821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4434840"/>
            <a:ext cx="23735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Hoàng Văn Dương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892040"/>
            <a:ext cx="23735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14:53 · 28/07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96514" y="41605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425114" y="3703320"/>
            <a:ext cx="255643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621035" y="3858768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562274" y="4114800"/>
            <a:ext cx="22821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516554" y="4434840"/>
            <a:ext cx="23735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Thị Chi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16554" y="4892040"/>
            <a:ext cx="23735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15:24 · 28/07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81548" y="41605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10148" y="3703320"/>
            <a:ext cx="255643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7406069" y="3858768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6347308" y="4114800"/>
            <a:ext cx="22821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301588" y="4434840"/>
            <a:ext cx="23735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Văn Hiền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01588" y="4892040"/>
            <a:ext cx="23735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15:39 · 28/07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766581" y="41605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995181" y="3703320"/>
            <a:ext cx="2556434" cy="141732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10191102" y="3858768"/>
            <a:ext cx="164592" cy="164592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9132341" y="4114800"/>
            <a:ext cx="22821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cuối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086621" y="4434840"/>
            <a:ext cx="23735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Doãn Trường Giang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086621" y="4892040"/>
            <a:ext cx="23735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15:44 · 28/07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53492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tin đến: Vũ Trọng Giáp · Cao Bảo Đồng · Phạm Thúy Hằng · Đinh Đức Hoàng · Nguyễn Hữu Hiệp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18585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CHẠY PILOT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Bối cảnh &amp; Mục đích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Bối cảnh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4709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mềm quản lý sản xuất hiện tại chưa đáp ứng được yêu cầu: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 module CIP phù hợp với thực tế vận hành.</a:t>
            </a:r>
            <a:endParaRPr lang="en-US" sz="150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 tính năng đáp ứng truy xuất nguồn gốc sản </a:t>
            </a:r>
            <a:r>
              <a:rPr lang="en-US" sz="150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phẩm</a:t>
            </a:r>
            <a:r>
              <a:rPr lang="en-US" sz="15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</a:t>
            </a:r>
            <a:r>
              <a:rPr lang="en-US" sz="150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</a:t>
            </a:r>
            <a:r>
              <a:rPr lang="en-US" sz="15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cáo</a:t>
            </a:r>
            <a:r>
              <a:rPr lang="en-US" sz="15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</a:t>
            </a:r>
            <a:r>
              <a:rPr lang="en-US" sz="15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phù</a:t>
            </a:r>
            <a:r>
              <a:rPr lang="en-US" sz="15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</a:t>
            </a:r>
            <a:r>
              <a:rPr lang="en-US" sz="15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</a:t>
            </a:r>
            <a:r>
              <a:rPr lang="en-US" sz="15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</a:t>
            </a:r>
            <a:r>
              <a:rPr lang="en-US" sz="15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</a:t>
            </a:r>
            <a:r>
              <a:rPr lang="en-US" sz="15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>
              <a:lnSpc>
                <a:spcPts val="2100"/>
              </a:lnSpc>
              <a:buSzPct val="100000"/>
            </a:pP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257800" cy="4206240"/>
          </a:xfrm>
          <a:prstGeom prst="roundRect">
            <a:avLst>
              <a:gd name="adj" fmla="val 1957"/>
            </a:avLst>
          </a:prstGeom>
          <a:solidFill>
            <a:srgbClr val="1E2761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492240" y="192024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4922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78040" y="1965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đích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2606040"/>
            <a:ext cx="4709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Nâng cao hiệu quả quản lý trong sản xuất, trích xuất nhanh dữ liệu công đoạn.</a:t>
            </a:r>
            <a:endParaRPr lang="en-US" sz="150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 dữ liệu chạy thử cho truy xuất nguồn gốc sản phẩm, đáp ứng theo luật.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18585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VI THEO CHỈ ĐẠO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Xác nhận phạm vi thử nghiệm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2A900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917652" y="2342934"/>
            <a:ext cx="280962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 err="1">
                <a:solidFill>
                  <a:srgbClr val="161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Nhà</a:t>
            </a:r>
            <a:r>
              <a:rPr lang="en-US" sz="2100" b="1" dirty="0">
                <a:solidFill>
                  <a:srgbClr val="161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100" b="1" dirty="0" err="1">
                <a:solidFill>
                  <a:srgbClr val="161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máy</a:t>
            </a:r>
            <a:r>
              <a:rPr lang="en-US" sz="2100" b="1" dirty="0">
                <a:solidFill>
                  <a:srgbClr val="161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Đông Mai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40080" y="3840480"/>
            <a:ext cx="521208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60120" y="4023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Tài liệu cung cấp đầy đủ 5 hạng mục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60120" y="448056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234440" y="436168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hệ thống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60120" y="475488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234440" y="463600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khoản theo vai trò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60120" y="502920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234440" y="49103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vi dữ liệu dùng thử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60120" y="530352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234440" y="518464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án sao lưu/khôi phục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60120" y="557784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234440" y="545896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pilot theo mốc thời gian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1691640"/>
            <a:ext cx="5303520" cy="4206240"/>
          </a:xfrm>
          <a:prstGeom prst="roundRect">
            <a:avLst>
              <a:gd name="adj" fmla="val 1957"/>
            </a:avLst>
          </a:prstGeom>
          <a:solidFill>
            <a:srgbClr val="1E2761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4922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Kèm theo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242316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tiêu chí nghiệm thu tối thiểu</a:t>
            </a:r>
            <a:endParaRPr lang="en-US" sz="1500" dirty="0"/>
          </a:p>
          <a:p>
            <a:pPr marL="0" indent="0">
              <a:lnSpc>
                <a:spcPts val="2000"/>
              </a:lnSpc>
              <a:spcAft>
                <a:spcPts val="16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(điều kiện bắt buộc trước khi xét mở rộng sang Hạ Long)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18585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HỆ THỐNG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1091153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mes-dma.biahalong.com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chủ đang chạy — truy cập trực tiếp bằng trình duyệt, không cần cài đặt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38048" y="448056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161D4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020928" y="44805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tài khoản theo vai trò thật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49928" y="448056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161D4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632808" y="44805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quyền theo phạm vi dữ liệu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61808" y="448056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161D4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8244688" y="44805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 ngay từ hôm nay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8585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QUYỀN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Tài khoản theo từng vai trò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sách đã được rà soát theo đúng sơ đồ tổ chức thật của công ty.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981114"/>
              </p:ext>
            </p:extLst>
          </p:nvPr>
        </p:nvGraphicFramePr>
        <p:xfrm>
          <a:off x="640080" y="1828800"/>
          <a:ext cx="10927080" cy="4224528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Tài khoản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Chức danh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Quyền chính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Phạm vi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Quản trị viên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Toàn quyền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Toàn bộ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D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Quản đốc phân xưởng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D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Quản lý danh mục, lệnh SX, mẻ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D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Toàn bộ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phoquandoc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Phó Quản đốc (trực ca)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Thực hiện mẻ, CIP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Toàn bộ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vanhanh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D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Nhân viên vận hành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D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Thực hiện mẻ, đề nghị nhận kho, CIP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D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Dây chuyền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Nhân viên KCS/QA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Duyệt QC, deviation, </a:t>
                      </a:r>
                      <a:r>
                        <a:rPr lang="en-US" sz="1050" dirty="0" err="1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khai</a:t>
                      </a:r>
                      <a:r>
                        <a:rPr lang="en-US" sz="1050" dirty="0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50" dirty="0" err="1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báo</a:t>
                      </a:r>
                      <a:r>
                        <a:rPr lang="en-US" sz="1050" dirty="0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Toàn bộ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kcs_truongphong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D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Trưởng phòng KCS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D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Như kcs + tạo lệnh SX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D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Toàn bộ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kysu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Kỹ sư công nghệ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Danh mục, </a:t>
                      </a:r>
                      <a:r>
                        <a:rPr lang="en-US" sz="1050" dirty="0" err="1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công</a:t>
                      </a:r>
                      <a:r>
                        <a:rPr lang="en-US" sz="1050" dirty="0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50" dirty="0" err="1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thức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Toàn bộ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thukho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D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Thủ kho NVL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D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Nhận/xuất kho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D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Kho công 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giamdoc_sx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 err="1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Giám</a:t>
                      </a:r>
                      <a:r>
                        <a:rPr lang="en-US" sz="1050" dirty="0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50" dirty="0" err="1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đốc</a:t>
                      </a:r>
                      <a:r>
                        <a:rPr lang="en-US" sz="1050" dirty="0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r>
                        <a:rPr lang="en-US" sz="1050" dirty="0" err="1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Phó</a:t>
                      </a:r>
                      <a:r>
                        <a:rPr lang="en-US" sz="1050" dirty="0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GĐ Sản xuất - Kỹ thuật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Duyệt lô chiết nhập kho thành phẩm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Toàn bộ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ttdh_thukhotp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D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 TT Điều hành - Thủ kho TP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D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Nhận/xuất kho thành phẩm (WMS)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D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Kho thành phẩm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5D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18585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VI DỮ LIỆU · TRONG PHẠM VI PILOT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Ghi nhận song song với quy trình giấy hiện tại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54298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41248" y="189280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41248" y="1819656"/>
            <a:ext cx="30885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thức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" y="2148840"/>
            <a:ext cx="308853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Khai báo công thức theo quy định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68698" y="1691640"/>
            <a:ext cx="3454298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4569866" y="189280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569866" y="1819656"/>
            <a:ext cx="30885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69866" y="2148840"/>
            <a:ext cx="308853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Khai báo đối tượng &amp; tiêu chuẩn CIP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97317" y="1691640"/>
            <a:ext cx="3454298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8298485" y="189280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298485" y="1819656"/>
            <a:ext cx="30885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Nấu–Lọc–Chiết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98485" y="2148840"/>
            <a:ext cx="308853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Lệnh &amp; mẻ SX — song song sổ tay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999232"/>
            <a:ext cx="3454298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841248" y="320040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841248" y="3127248"/>
            <a:ext cx="30885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 NVL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41248" y="3456432"/>
            <a:ext cx="308853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Nhận/xuất/đề nghị nhận kho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68698" y="2999232"/>
            <a:ext cx="3454298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569866" y="320040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569866" y="3127248"/>
            <a:ext cx="30885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 thành phẩm (WMS)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69866" y="3456432"/>
            <a:ext cx="308853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Cất vị trí, xuất kho, điều chuyển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97317" y="2999232"/>
            <a:ext cx="3454298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8298485" y="320040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8298485" y="3127248"/>
            <a:ext cx="30885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Chất lượng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98485" y="3456432"/>
            <a:ext cx="308853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QC, cho phép giữ lô khi fail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306824"/>
            <a:ext cx="3454298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841248" y="4507992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841248" y="4434840"/>
            <a:ext cx="30885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xuất nguồn gốc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41248" y="4764024"/>
            <a:ext cx="308853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cứu, đối chiếu — không phát sinh mới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68698" y="4306824"/>
            <a:ext cx="3454298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4569866" y="4507992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4569866" y="4434840"/>
            <a:ext cx="30885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69866" y="4764024"/>
            <a:ext cx="308853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chiết 30k lon/giờ, trạm quan trắc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97317" y="4306824"/>
            <a:ext cx="3454298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8298485" y="4507992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8298485" y="4434840"/>
            <a:ext cx="30885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Năng lượng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298485" y="4764024"/>
            <a:ext cx="308853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điện trực tiếp — báo cáo theo ca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0080" y="5614416"/>
            <a:ext cx="3454298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841248" y="581558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841248" y="5742432"/>
            <a:ext cx="30885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841248" y="6071616"/>
            <a:ext cx="308853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— không cần thao tác thêm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368698" y="5614416"/>
            <a:ext cx="3454298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4569866" y="581558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4569866" y="5742432"/>
            <a:ext cx="30885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4569866" y="6071616"/>
            <a:ext cx="308853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xem — đối chiếu sổ sách giấy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118585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VI DỮ LIỆU · NGOÀI PHẠM VI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Ngoài phạm vi pilot lần này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737360"/>
          </a:xfrm>
          <a:prstGeom prst="roundRect">
            <a:avLst>
              <a:gd name="adj" fmla="val 4737"/>
            </a:avLst>
          </a:prstGeom>
          <a:solidFill>
            <a:srgbClr val="D5DDE8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960120" y="1920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Hiệu suất / OEE &amp; Dừng máy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đã có sẵn (mô hình dữ liệu, API tính OEE / Pareto dừng máy / MTBF) nhưng màn hình thao tác chưa được bật trên menu — là hiện trạng xây dựng, không phải quyết định phạm vi của pilot. Đưa vào backlog ưu tiên.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1088136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6012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phân hệ khác chưa có giao diện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425196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độ · Lập lịch · Công thức nâng cao · Mẻ sản xuất (khung ISA-88 riêng) · Cấp liệu · QC Lab (SPC/CAPA/LIMS nâng cao) · Bảo trì/CMMS · Kiểm định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507492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 màn hình sử dụng thật trong bản hiện tại — không liên quan tới quyết định phạm vi của pilot, chỉ là hiện trạng.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8585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 TẦNG DỮ LIỆU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Phương án sao lưu / khôi phục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1828800"/>
          </a:xfrm>
          <a:prstGeom prst="roundRect">
            <a:avLst>
              <a:gd name="adj" fmla="val 4500"/>
            </a:avLst>
          </a:prstGeom>
          <a:solidFill>
            <a:srgbClr val="00A896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Đã chốt — 25/07/2026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 tầng cơ sở dữ liệu dùng SQL Server.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303520" cy="1828800"/>
          </a:xfrm>
          <a:prstGeom prst="roundRect">
            <a:avLst>
              <a:gd name="adj" fmla="val 4500"/>
            </a:avLst>
          </a:prstGeom>
          <a:solidFill>
            <a:srgbClr val="D5DDE8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44652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Hiện trạng cần biết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23774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Sao lưu hiện tại là thủ công, chưa có lịch tự động (cron/Task Scheduler) nào đang thật sự chạy.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10881360" cy="1965960"/>
          </a:xfrm>
          <a:prstGeom prst="roundRect">
            <a:avLst>
              <a:gd name="adj" fmla="val 4186"/>
            </a:avLst>
          </a:prstGeom>
          <a:solidFill>
            <a:srgbClr val="1E2761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960120" y="3977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Phương án cho giai đoạn pilot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44348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Sao lưu toàn bộ (full backup) hàng ngày, cuối mỗi ca cuối cùng trong ngày.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ít nhất 7 bản gần nhất.</a:t>
            </a:r>
            <a:endParaRPr lang="en-US" sz="140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hiện tự động, kiểm tra lại vào ngày hôm sau.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8585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TRÌNH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 hoạch pilot theo mốc thời gian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mốc kèm đầu ra cụ thể cần có — để biết chắc mốc đó đã hoàn tất hay chưa.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345429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30885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28/07 – 31/07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212848"/>
            <a:ext cx="308853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Khai báo danh mục chỉ tiêu, nguyên vật liệu, </a:t>
            </a:r>
            <a:r>
              <a:rPr lang="en-US" sz="100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</a:t>
            </a:r>
            <a:r>
              <a:rPr lang="en-US" sz="10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</a:t>
            </a:r>
            <a:r>
              <a:rPr lang="en-US" sz="10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</a:t>
            </a:r>
            <a:r>
              <a:rPr lang="en-US" sz="10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phẩm</a:t>
            </a:r>
            <a:r>
              <a:rPr lang="en-US" sz="10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724912"/>
            <a:ext cx="308853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RA CẦN CÓ: Danh mục đã khai báo đầy đủ trên hệ thống.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68698" y="1810512"/>
            <a:ext cx="3454298" cy="1371600"/>
          </a:xfrm>
          <a:prstGeom prst="roundRect">
            <a:avLst>
              <a:gd name="adj" fmla="val 6000"/>
            </a:avLst>
          </a:prstGeom>
          <a:solidFill>
            <a:srgbClr val="F2A900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551578" y="1920240"/>
            <a:ext cx="30885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31/07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51578" y="2212848"/>
            <a:ext cx="308853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16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 sử dụng thử phần mềm (hôm nay).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51578" y="2724912"/>
            <a:ext cx="308853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i="1" dirty="0">
                <a:solidFill>
                  <a:srgbClr val="16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RA CẦN CÓ: Biên bản kick-off có đủ chữ ký các bên tham gia.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97317" y="1810512"/>
            <a:ext cx="345429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280197" y="1920240"/>
            <a:ext cx="30885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01/08 – 03/08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80197" y="2212848"/>
            <a:ext cx="308853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Khai </a:t>
            </a:r>
            <a:r>
              <a:rPr lang="en-US" sz="100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</a:t>
            </a:r>
            <a:r>
              <a:rPr lang="en-US" sz="10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10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thức</a:t>
            </a:r>
            <a:r>
              <a:rPr lang="en-US" sz="10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</a:t>
            </a:r>
            <a:r>
              <a:rPr lang="en-US" sz="10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</a:t>
            </a:r>
            <a:r>
              <a:rPr lang="en-US" sz="10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tồn đầu các kho nguyên vật liệu, kho thành phẩm.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80197" y="2724912"/>
            <a:ext cx="308853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RA CẦN CÓ: Tồn đầu đã đối chiếu khớp với sổ sách giấy.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3364992"/>
            <a:ext cx="345429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822960" y="3474720"/>
            <a:ext cx="30885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767328"/>
            <a:ext cx="308853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</a:t>
            </a:r>
            <a:r>
              <a:rPr lang="en-US" sz="10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thức</a:t>
            </a:r>
            <a:r>
              <a:rPr lang="en-US" sz="10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</a:t>
            </a:r>
            <a:r>
              <a:rPr lang="en-US" sz="10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pilot </a:t>
            </a:r>
            <a:r>
              <a:rPr lang="en-US" sz="100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</a:t>
            </a:r>
            <a:r>
              <a:rPr lang="en-US" sz="10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khai báo phần mềm.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4279392"/>
            <a:ext cx="308853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RA CẦN CÓ: Dữ liệu khai báo hoàn tất, sẵn sàng vận hành song song.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68698" y="3364992"/>
            <a:ext cx="345429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551578" y="3474720"/>
            <a:ext cx="30885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11/08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51578" y="3767328"/>
            <a:ext cx="308853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Họp đánh giá nhanh giữa kỳ — đối chiếu số liệu với sổ sách giấy.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51578" y="4279392"/>
            <a:ext cx="308853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RA CẦN CÓ: Biên bản đánh giá giữa kỳ.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97317" y="3364992"/>
            <a:ext cx="345429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8280197" y="3474720"/>
            <a:ext cx="30885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12/08 – 18/08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80197" y="3767328"/>
            <a:ext cx="308853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tục chạy pilot 07 ngày tiếp theo.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80197" y="4279392"/>
            <a:ext cx="308853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RA CẦN CÓ: Log vận hành đủ 7 ngày, không gián đoạn nghiêm trọng.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" y="4919472"/>
            <a:ext cx="345429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822960" y="5029200"/>
            <a:ext cx="30885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thúc chu kỳ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5321808"/>
            <a:ext cx="308853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biên bản đánh giá đối chiếu 6 tiêu chí nghiệm thu.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" y="5833872"/>
            <a:ext cx="308853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RA CẦN CÓ: Biên bản nghiệm thu có đủ chữ ký — điều kiện bắt buộc trước khi mở rộng.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8585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 HÀNH PILOT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Cơ chế báo lỗi &amp; cập nhật tiến độ hằng ngày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0" cy="1828800"/>
          </a:xfrm>
          <a:prstGeom prst="roundRect">
            <a:avLst>
              <a:gd name="adj" fmla="val 3830"/>
            </a:avLst>
          </a:prstGeom>
          <a:solidFill>
            <a:srgbClr val="1E2761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347472" cy="347472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1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8288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tiếp nhận lỗi/vướng mắc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221992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Trưởng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điện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hoặc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phù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quá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pilot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cáo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lại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Phó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đốc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TB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0" y="1691640"/>
            <a:ext cx="6065215" cy="182880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0" name="Shape 8"/>
          <p:cNvSpPr/>
          <p:nvPr/>
        </p:nvSpPr>
        <p:spPr>
          <a:xfrm>
            <a:off x="5760720" y="1947672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760720" y="19476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55080" y="1892808"/>
            <a:ext cx="50593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Cập nhật tiến độ ở đâu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60720" y="2560320"/>
            <a:ext cx="55165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700"/>
              </a:lnSpc>
            </a:pPr>
            <a:r>
              <a:rPr lang="en-US" sz="125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kênh trao đổi chung của </a:t>
            </a:r>
            <a:r>
              <a:rPr lang="en-US" sz="125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</a:t>
            </a:r>
            <a:r>
              <a:rPr lang="en-US" sz="125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pilot qua </a:t>
            </a:r>
            <a:r>
              <a:rPr lang="en-US" sz="125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zalo</a:t>
            </a:r>
            <a:r>
              <a:rPr lang="en-US" sz="125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50" b="1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BHL- </a:t>
            </a:r>
            <a:r>
              <a:rPr lang="en-US" sz="1250" b="1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</a:t>
            </a:r>
            <a:r>
              <a:rPr lang="en-US" sz="1250" b="1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pilot </a:t>
            </a:r>
            <a:r>
              <a:rPr lang="en-US" sz="1250" b="1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r>
              <a:rPr lang="en-US" sz="1250" b="1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mềm</a:t>
            </a:r>
            <a:r>
              <a:rPr lang="en-US" sz="1250" b="1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</a:t>
            </a:r>
            <a:r>
              <a:rPr lang="en-US" sz="1250" b="1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1250" b="1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</a:t>
            </a:r>
            <a:r>
              <a:rPr lang="en-US" sz="1250" b="1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</a:t>
            </a:r>
            <a:r>
              <a:rPr lang="en-US" sz="1250" b="1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Đông Mai </a:t>
            </a:r>
            <a:r>
              <a:rPr lang="en-US" sz="125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 bảng theo dõi lỗi/vướng mắc dùng chung — cập nhật trạng thái xử lý theo thời </a:t>
            </a:r>
            <a:r>
              <a:rPr lang="en-US" sz="125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</a:t>
            </a:r>
            <a:r>
              <a:rPr lang="en-US" sz="125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</a:t>
            </a:r>
            <a:r>
              <a:rPr lang="en-US" sz="125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 </a:t>
            </a:r>
            <a:r>
              <a:rPr lang="en-US" sz="125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Trưởng</a:t>
            </a:r>
            <a:r>
              <a:rPr lang="en-US" sz="125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</a:t>
            </a:r>
            <a:r>
              <a:rPr lang="en-US" sz="125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</a:t>
            </a:r>
            <a:r>
              <a:rPr lang="en-US" sz="125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điện</a:t>
            </a:r>
            <a:r>
              <a:rPr lang="en-US" sz="125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</a:t>
            </a:r>
            <a:r>
              <a:rPr lang="en-US" sz="125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dõi</a:t>
            </a:r>
            <a:r>
              <a:rPr lang="en-US" sz="125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25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</a:t>
            </a:r>
            <a:r>
              <a:rPr lang="en-US" sz="125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73327"/>
            <a:ext cx="4572000" cy="137160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777240" y="4110487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77240" y="4110487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4110487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Thời gian phản hồi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4503679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 chặn thao tác (không ghi nhận được, mất số liệu): phản hồi trong giờ làm việc ≤ 1 giờ. Lỗi không chặn thao tác: phản hồi trong ngày.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399" y="3962803"/>
            <a:ext cx="6065215" cy="137160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5623560" y="4099963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623560" y="4099963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80760" y="4099963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Tổng</a:t>
            </a: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hợp</a:t>
            </a: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nhanh</a:t>
            </a: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tại</a:t>
            </a: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mỗi</a:t>
            </a: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ca </a:t>
            </a:r>
            <a:r>
              <a:rPr lang="en-US" sz="13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trong</a:t>
            </a: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ngày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23560" y="4493155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phút cuối mỗi ca/ngày — tổng hợp vướng mắc phát sinh trong ca, thống nhất hướng xử lý trước khi bắt đầu ca/ngày </a:t>
            </a:r>
            <a:r>
              <a:rPr lang="en-US" sz="105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</a:t>
            </a:r>
            <a:r>
              <a:rPr lang="en-US" sz="105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</a:t>
            </a:r>
            <a:r>
              <a:rPr lang="en-US" sz="105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 </a:t>
            </a:r>
            <a:r>
              <a:rPr lang="en-US" sz="105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Phó</a:t>
            </a:r>
            <a:r>
              <a:rPr lang="en-US" sz="105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</a:t>
            </a:r>
            <a:r>
              <a:rPr lang="en-US" sz="105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đốc</a:t>
            </a:r>
            <a:r>
              <a:rPr lang="en-US" sz="105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</a:t>
            </a:r>
            <a:r>
              <a:rPr lang="en-US" sz="105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bị</a:t>
            </a:r>
            <a:r>
              <a:rPr lang="en-US" sz="105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</a:t>
            </a:r>
            <a:r>
              <a:rPr lang="en-US" sz="105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nhật</a:t>
            </a:r>
            <a:r>
              <a:rPr lang="en-US" sz="105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</a:t>
            </a:r>
            <a:r>
              <a:rPr lang="en-US" sz="105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phản</a:t>
            </a:r>
            <a:r>
              <a:rPr lang="en-US" sz="105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ánh</a:t>
            </a:r>
            <a:r>
              <a:rPr lang="en-US" sz="105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</a:t>
            </a:r>
            <a:r>
              <a:rPr lang="en-US" sz="105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</a:t>
            </a:r>
            <a:r>
              <a:rPr lang="en-US" sz="105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Zalo</a:t>
            </a:r>
            <a:r>
              <a:rPr lang="en-US" sz="105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18585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 HÔM NAY · 31/07/2026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Thành phần tham gia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466490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04672" y="15590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04672" y="15590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35608" y="1545336"/>
            <a:ext cx="253380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Văn Hiền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35608" y="1874520"/>
            <a:ext cx="25338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 đốc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62602" y="1417320"/>
            <a:ext cx="3466490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527194" y="15590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527194" y="15590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58130" y="1545336"/>
            <a:ext cx="253380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Thị Chi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58130" y="1874520"/>
            <a:ext cx="25338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Phó GĐ Sản xuất &amp; Kỹ thuật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85125" y="1417320"/>
            <a:ext cx="3466490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8249717" y="15590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8249717" y="15590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80653" y="1545336"/>
            <a:ext cx="253380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Đinh Đức Hoàng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80653" y="1874520"/>
            <a:ext cx="25338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Trưởng phòng KCS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131820"/>
            <a:ext cx="3466490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804672" y="32735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804672" y="3273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35608" y="3259836"/>
            <a:ext cx="253380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Trưởng phòng &amp; thành viên kho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35608" y="3589020"/>
            <a:ext cx="25338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 Kế hoạch vật tư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62602" y="3131820"/>
            <a:ext cx="3466490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527194" y="32735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527194" y="3273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QĐ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58130" y="3259836"/>
            <a:ext cx="253380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200" b="1">
                <a:solidFill>
                  <a:srgbClr val="222A3A"/>
                </a:solidFill>
                <a:latin typeface="Calibri"/>
              </a:rPr>
              <a:t>Quản đốc &amp; các thành viên liên quan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58130" y="3589020"/>
            <a:ext cx="25338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xưởng sản xuất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85125" y="3131820"/>
            <a:ext cx="3466490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8249717" y="32735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8249717" y="3273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LQ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80653" y="3259836"/>
            <a:ext cx="253380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Phó phòng &amp; thành viên liên quan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880653" y="3589020"/>
            <a:ext cx="25338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tâm điều hành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4846320"/>
            <a:ext cx="3466490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777240" y="5074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777240" y="5074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TV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709928" y="4974336"/>
            <a:ext cx="225948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Vũ Tế Vị &amp; Khuất Bích Phượng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709928" y="5340096"/>
            <a:ext cx="225948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Chuyên gia · Cải tiến sản xuất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362602" y="4846320"/>
            <a:ext cx="3466490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4527194" y="49880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4527194" y="49880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HH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158130" y="4974336"/>
            <a:ext cx="253380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Hữu Hiệp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158130" y="5303520"/>
            <a:ext cx="25338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Trưởng phòng Cơ điện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118585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45" name="TextBox 44"/>
          <p:cNvSpPr txBox="1"/>
          <p:nvPr/>
        </p:nvSpPr>
        <p:spPr>
          <a:xfrm>
            <a:off x="777240" y="2130552"/>
            <a:ext cx="3192170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 dirty="0" err="1">
                <a:solidFill>
                  <a:srgbClr val="028090"/>
                </a:solidFill>
                <a:latin typeface="Calibri"/>
              </a:rPr>
              <a:t>Nhiệm</a:t>
            </a:r>
            <a:r>
              <a:rPr sz="950" i="1" dirty="0">
                <a:solidFill>
                  <a:srgbClr val="028090"/>
                </a:solidFill>
                <a:latin typeface="Calibri"/>
              </a:rPr>
              <a:t> </a:t>
            </a:r>
            <a:r>
              <a:rPr sz="950" i="1" dirty="0" err="1">
                <a:solidFill>
                  <a:srgbClr val="028090"/>
                </a:solidFill>
                <a:latin typeface="Calibri"/>
              </a:rPr>
              <a:t>vụ</a:t>
            </a:r>
            <a:r>
              <a:rPr sz="950" i="1" dirty="0">
                <a:solidFill>
                  <a:srgbClr val="028090"/>
                </a:solidFill>
                <a:latin typeface="Calibri"/>
              </a:rPr>
              <a:t>: </a:t>
            </a:r>
            <a:r>
              <a:rPr lang="en-US" sz="950" i="1" dirty="0" err="1">
                <a:solidFill>
                  <a:srgbClr val="028090"/>
                </a:solidFill>
                <a:latin typeface="Calibri"/>
              </a:rPr>
              <a:t>P</a:t>
            </a:r>
            <a:r>
              <a:rPr sz="950" i="1" dirty="0" err="1">
                <a:solidFill>
                  <a:srgbClr val="028090"/>
                </a:solidFill>
                <a:latin typeface="Calibri"/>
              </a:rPr>
              <a:t>hê</a:t>
            </a:r>
            <a:r>
              <a:rPr sz="950" i="1" dirty="0">
                <a:solidFill>
                  <a:srgbClr val="028090"/>
                </a:solidFill>
                <a:latin typeface="Calibri"/>
              </a:rPr>
              <a:t> </a:t>
            </a:r>
            <a:r>
              <a:rPr sz="950" i="1" dirty="0" err="1">
                <a:solidFill>
                  <a:srgbClr val="028090"/>
                </a:solidFill>
                <a:latin typeface="Calibri"/>
              </a:rPr>
              <a:t>duyệt</a:t>
            </a:r>
            <a:r>
              <a:rPr sz="950" i="1" dirty="0">
                <a:solidFill>
                  <a:srgbClr val="028090"/>
                </a:solidFill>
                <a:latin typeface="Calibri"/>
              </a:rPr>
              <a:t> </a:t>
            </a:r>
            <a:r>
              <a:rPr sz="950" i="1" dirty="0" err="1">
                <a:solidFill>
                  <a:srgbClr val="028090"/>
                </a:solidFill>
                <a:latin typeface="Calibri"/>
              </a:rPr>
              <a:t>mở</a:t>
            </a:r>
            <a:r>
              <a:rPr sz="950" i="1" dirty="0">
                <a:solidFill>
                  <a:srgbClr val="028090"/>
                </a:solidFill>
                <a:latin typeface="Calibri"/>
              </a:rPr>
              <a:t> </a:t>
            </a:r>
            <a:r>
              <a:rPr sz="950" i="1" dirty="0" err="1">
                <a:solidFill>
                  <a:srgbClr val="028090"/>
                </a:solidFill>
                <a:latin typeface="Calibri"/>
              </a:rPr>
              <a:t>rộng</a:t>
            </a:r>
            <a:r>
              <a:rPr sz="950" i="1" dirty="0">
                <a:solidFill>
                  <a:srgbClr val="028090"/>
                </a:solidFill>
                <a:latin typeface="Calibri"/>
              </a:rPr>
              <a:t> </a:t>
            </a:r>
            <a:r>
              <a:rPr sz="950" i="1" dirty="0" err="1">
                <a:solidFill>
                  <a:srgbClr val="028090"/>
                </a:solidFill>
                <a:latin typeface="Calibri"/>
              </a:rPr>
              <a:t>sau</a:t>
            </a:r>
            <a:r>
              <a:rPr sz="950" i="1" dirty="0">
                <a:solidFill>
                  <a:srgbClr val="028090"/>
                </a:solidFill>
                <a:latin typeface="Calibri"/>
              </a:rPr>
              <a:t> pilot.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99762" y="2130552"/>
            <a:ext cx="3192170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028090"/>
                </a:solidFill>
                <a:latin typeface="Calibri"/>
              </a:rPr>
              <a:t>Nhiệm vụ: Duyệt lô chiết nhập kho thành phẩm trên hệ thống.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2285" y="2130552"/>
            <a:ext cx="3192170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028090"/>
                </a:solidFill>
                <a:latin typeface="Calibri"/>
              </a:rPr>
              <a:t>Nhiệm vụ: Duyệt chất lượng, xử lý deviation trên hệ thống.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3845052"/>
            <a:ext cx="3192170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028090"/>
                </a:solidFill>
                <a:latin typeface="Calibri"/>
              </a:rPr>
              <a:t>Nhiệm vụ: Khai báo &amp; đối chiếu tồn kho nguyên vật liệu.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99762" y="3845052"/>
            <a:ext cx="3192170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028090"/>
                </a:solidFill>
                <a:latin typeface="Calibri"/>
              </a:rPr>
              <a:t>Nhiệm vụ: Thực thi mẻ sản xuất, ghi nhận số liệu hằng ngày.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2285" y="3845052"/>
            <a:ext cx="3192170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028090"/>
                </a:solidFill>
                <a:latin typeface="Calibri"/>
              </a:rPr>
              <a:t>Nhiệm vụ: Vận hành kho thành phẩm (WMS), theo dõi Realtime.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596128"/>
            <a:ext cx="319217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028090"/>
                </a:solidFill>
                <a:latin typeface="Calibri"/>
              </a:rPr>
              <a:t>Nhiệm vụ: Hỗ trợ nghiệp vụ, tư vấn xử lý vướng mắc &amp; đóng góp ý kiến cải tiến hệ thống trong pilot.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99762" y="5559552"/>
            <a:ext cx="3192170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 dirty="0" err="1">
                <a:solidFill>
                  <a:srgbClr val="028090"/>
                </a:solidFill>
                <a:latin typeface="Calibri"/>
              </a:rPr>
              <a:t>Nhiệm</a:t>
            </a:r>
            <a:r>
              <a:rPr sz="950" i="1" dirty="0">
                <a:solidFill>
                  <a:srgbClr val="028090"/>
                </a:solidFill>
                <a:latin typeface="Calibri"/>
              </a:rPr>
              <a:t> </a:t>
            </a:r>
            <a:r>
              <a:rPr sz="950" i="1" dirty="0" err="1">
                <a:solidFill>
                  <a:srgbClr val="028090"/>
                </a:solidFill>
                <a:latin typeface="Calibri"/>
              </a:rPr>
              <a:t>vụ</a:t>
            </a:r>
            <a:r>
              <a:rPr sz="950" i="1" dirty="0">
                <a:solidFill>
                  <a:srgbClr val="028090"/>
                </a:solidFill>
                <a:latin typeface="Calibri"/>
              </a:rPr>
              <a:t>: Theo </a:t>
            </a:r>
            <a:r>
              <a:rPr sz="950" i="1" dirty="0" err="1">
                <a:solidFill>
                  <a:srgbClr val="028090"/>
                </a:solidFill>
                <a:latin typeface="Calibri"/>
              </a:rPr>
              <a:t>dõi</a:t>
            </a:r>
            <a:r>
              <a:rPr sz="950" i="1" dirty="0">
                <a:solidFill>
                  <a:srgbClr val="028090"/>
                </a:solidFill>
                <a:latin typeface="Calibri"/>
              </a:rPr>
              <a:t> </a:t>
            </a:r>
            <a:r>
              <a:rPr sz="950" i="1" dirty="0" err="1">
                <a:solidFill>
                  <a:srgbClr val="028090"/>
                </a:solidFill>
                <a:latin typeface="Calibri"/>
              </a:rPr>
              <a:t>thiết</a:t>
            </a:r>
            <a:r>
              <a:rPr sz="950" i="1" dirty="0">
                <a:solidFill>
                  <a:srgbClr val="028090"/>
                </a:solidFill>
                <a:latin typeface="Calibri"/>
              </a:rPr>
              <a:t> </a:t>
            </a:r>
            <a:r>
              <a:rPr sz="950" i="1" dirty="0" err="1">
                <a:solidFill>
                  <a:srgbClr val="028090"/>
                </a:solidFill>
                <a:latin typeface="Calibri"/>
              </a:rPr>
              <a:t>bị</a:t>
            </a:r>
            <a:r>
              <a:rPr sz="950" i="1" dirty="0">
                <a:solidFill>
                  <a:srgbClr val="028090"/>
                </a:solidFill>
                <a:latin typeface="Calibri"/>
              </a:rPr>
              <a:t>, </a:t>
            </a:r>
            <a:r>
              <a:rPr sz="950" i="1" dirty="0" err="1">
                <a:solidFill>
                  <a:srgbClr val="028090"/>
                </a:solidFill>
                <a:latin typeface="Calibri"/>
              </a:rPr>
              <a:t>phối</a:t>
            </a:r>
            <a:r>
              <a:rPr sz="950" i="1" dirty="0">
                <a:solidFill>
                  <a:srgbClr val="028090"/>
                </a:solidFill>
                <a:latin typeface="Calibri"/>
              </a:rPr>
              <a:t> </a:t>
            </a:r>
            <a:r>
              <a:rPr sz="950" i="1" dirty="0" err="1">
                <a:solidFill>
                  <a:srgbClr val="028090"/>
                </a:solidFill>
                <a:latin typeface="Calibri"/>
              </a:rPr>
              <a:t>hợp</a:t>
            </a:r>
            <a:r>
              <a:rPr sz="950" i="1" dirty="0">
                <a:solidFill>
                  <a:srgbClr val="028090"/>
                </a:solidFill>
                <a:latin typeface="Calibri"/>
              </a:rPr>
              <a:t> </a:t>
            </a:r>
            <a:r>
              <a:rPr sz="950" i="1" dirty="0" err="1">
                <a:solidFill>
                  <a:srgbClr val="028090"/>
                </a:solidFill>
                <a:latin typeface="Calibri"/>
              </a:rPr>
              <a:t>xử</a:t>
            </a:r>
            <a:r>
              <a:rPr sz="950" i="1" dirty="0">
                <a:solidFill>
                  <a:srgbClr val="028090"/>
                </a:solidFill>
                <a:latin typeface="Calibri"/>
              </a:rPr>
              <a:t> </a:t>
            </a:r>
            <a:r>
              <a:rPr sz="950" i="1" dirty="0" err="1">
                <a:solidFill>
                  <a:srgbClr val="028090"/>
                </a:solidFill>
                <a:latin typeface="Calibri"/>
              </a:rPr>
              <a:t>lý</a:t>
            </a:r>
            <a:r>
              <a:rPr sz="950" i="1" dirty="0">
                <a:solidFill>
                  <a:srgbClr val="028090"/>
                </a:solidFill>
                <a:latin typeface="Calibri"/>
              </a:rPr>
              <a:t> </a:t>
            </a:r>
            <a:r>
              <a:rPr sz="950" i="1" dirty="0" err="1">
                <a:solidFill>
                  <a:srgbClr val="028090"/>
                </a:solidFill>
                <a:latin typeface="Calibri"/>
              </a:rPr>
              <a:t>lỗi</a:t>
            </a:r>
            <a:r>
              <a:rPr sz="950" i="1" dirty="0">
                <a:solidFill>
                  <a:srgbClr val="028090"/>
                </a:solidFill>
                <a:latin typeface="Calibri"/>
              </a:rPr>
              <a:t> </a:t>
            </a:r>
            <a:r>
              <a:rPr sz="950" i="1" dirty="0" err="1">
                <a:solidFill>
                  <a:srgbClr val="028090"/>
                </a:solidFill>
                <a:latin typeface="Calibri"/>
              </a:rPr>
              <a:t>kỹ</a:t>
            </a:r>
            <a:r>
              <a:rPr sz="950" i="1" dirty="0">
                <a:solidFill>
                  <a:srgbClr val="028090"/>
                </a:solidFill>
                <a:latin typeface="Calibri"/>
              </a:rPr>
              <a:t> </a:t>
            </a:r>
            <a:r>
              <a:rPr sz="950" i="1" dirty="0" err="1">
                <a:solidFill>
                  <a:srgbClr val="028090"/>
                </a:solidFill>
                <a:latin typeface="Calibri"/>
              </a:rPr>
              <a:t>thuật</a:t>
            </a:r>
            <a:r>
              <a:rPr sz="950" i="1" dirty="0">
                <a:solidFill>
                  <a:srgbClr val="028090"/>
                </a:solidFill>
                <a:latin typeface="Calibri"/>
              </a:rPr>
              <a:t>.</a:t>
            </a:r>
          </a:p>
        </p:txBody>
      </p:sp>
      <p:sp>
        <p:nvSpPr>
          <p:cNvPr id="53" name="Shape 33"/>
          <p:cNvSpPr/>
          <p:nvPr/>
        </p:nvSpPr>
        <p:spPr>
          <a:xfrm>
            <a:off x="1216152" y="5074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4" name="Text 34"/>
          <p:cNvSpPr/>
          <p:nvPr/>
        </p:nvSpPr>
        <p:spPr>
          <a:xfrm>
            <a:off x="1216152" y="5074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</a:t>
            </a:r>
            <a:endParaRPr lang="en-US" sz="1600" dirty="0"/>
          </a:p>
        </p:txBody>
      </p:sp>
      <p:sp>
        <p:nvSpPr>
          <p:cNvPr id="55" name="Shape 37"/>
          <p:cNvSpPr/>
          <p:nvPr/>
        </p:nvSpPr>
        <p:spPr>
          <a:xfrm>
            <a:off x="8085125" y="4846320"/>
            <a:ext cx="3466490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6" name="Shape 38"/>
          <p:cNvSpPr/>
          <p:nvPr/>
        </p:nvSpPr>
        <p:spPr>
          <a:xfrm>
            <a:off x="8249717" y="49880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Text 39"/>
          <p:cNvSpPr/>
          <p:nvPr/>
        </p:nvSpPr>
        <p:spPr>
          <a:xfrm>
            <a:off x="8249717" y="49880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F2A900"/>
                </a:solidFill>
                <a:latin typeface="Calibri"/>
              </a:rPr>
              <a:t>VD</a:t>
            </a:r>
            <a:endParaRPr lang="en-US" sz="1600" dirty="0"/>
          </a:p>
        </p:txBody>
      </p:sp>
      <p:sp>
        <p:nvSpPr>
          <p:cNvPr id="58" name="Text 40"/>
          <p:cNvSpPr/>
          <p:nvPr/>
        </p:nvSpPr>
        <p:spPr>
          <a:xfrm>
            <a:off x="8880653" y="4974336"/>
            <a:ext cx="253380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200" b="1">
                <a:solidFill>
                  <a:srgbClr val="222A3A"/>
                </a:solidFill>
                <a:latin typeface="Calibri"/>
              </a:rPr>
              <a:t>Hoàng Văn Dương</a:t>
            </a:r>
            <a:endParaRPr lang="en-US" sz="1200" dirty="0"/>
          </a:p>
        </p:txBody>
      </p:sp>
      <p:sp>
        <p:nvSpPr>
          <p:cNvPr id="59" name="Text 41"/>
          <p:cNvSpPr/>
          <p:nvPr/>
        </p:nvSpPr>
        <p:spPr>
          <a:xfrm>
            <a:off x="8880653" y="5303520"/>
            <a:ext cx="25338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050">
                <a:solidFill>
                  <a:srgbClr val="5A6372"/>
                </a:solidFill>
                <a:latin typeface="Calibri"/>
              </a:rPr>
              <a:t>Phó giám đốc Thiết bị</a:t>
            </a:r>
            <a:endParaRPr lang="en-US" sz="1050" dirty="0"/>
          </a:p>
        </p:txBody>
      </p:sp>
      <p:sp>
        <p:nvSpPr>
          <p:cNvPr id="60" name="TextBox 51"/>
          <p:cNvSpPr txBox="1"/>
          <p:nvPr/>
        </p:nvSpPr>
        <p:spPr>
          <a:xfrm>
            <a:off x="8222285" y="5559552"/>
            <a:ext cx="3192170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028090"/>
                </a:solidFill>
                <a:latin typeface="Calibri"/>
              </a:rPr>
              <a:t>Nhiệm vụ: Phát triển hệ thống, tiếp nhận báo lỗi &amp; cải tiến theo góp ý trong pilot.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KIỆN MỞ RỘNG SANG HẠ LONG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Bộ tiêu chí nghiệm thu tối thiểu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5429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41248" y="18745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41248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856232"/>
            <a:ext cx="2585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Độ đầy đủ dữ liệu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1248" y="2404872"/>
            <a:ext cx="305196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khớp % sự kiện SX ghi trên MES với sổ giấy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3063240"/>
            <a:ext cx="305196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 ngưỡng đạt ≥ 95%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68698" y="1691640"/>
            <a:ext cx="345429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569866" y="18745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569866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54498" y="1856232"/>
            <a:ext cx="2585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Độ ổn định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69866" y="2404872"/>
            <a:ext cx="305196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lần lỗi/gián đoạn ngoài kế hoạch trong 5–14 ngày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69866" y="3063240"/>
            <a:ext cx="305196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Ngưỡng đạt: ≤ 2 lần gián đoạn &gt; 15 phút / 14 ngày, không mất dữ liệu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97317" y="1691640"/>
            <a:ext cx="345429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8298485" y="18745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8298485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783117" y="1856232"/>
            <a:ext cx="2585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Thời gian phản hồi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98485" y="2404872"/>
            <a:ext cx="305196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tải các màn hình thao tác chính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98485" y="3063240"/>
            <a:ext cx="305196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Ngưỡng đạt: ≤ 5 giây trong mạng nội bộ nhà máy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931920"/>
            <a:ext cx="345429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841248" y="41148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841248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25880" y="4096512"/>
            <a:ext cx="2585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Quyền truy cập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41248" y="4645152"/>
            <a:ext cx="305196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Từng tài khoản chỉ thấy/thao tác đúng phạm vi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68698" y="3931920"/>
            <a:ext cx="345429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4569866" y="41148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4569866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054498" y="4096512"/>
            <a:ext cx="2585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Nhật ký thao tác (audit)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569866" y="4645152"/>
            <a:ext cx="305196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 audit không đứt gãy suốt pilot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69866" y="5303520"/>
            <a:ext cx="305196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có sẵn, ghi tự động — không cần thao tác thêm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097317" y="3931920"/>
            <a:ext cx="345429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8298485" y="41148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8298485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783117" y="4096512"/>
            <a:ext cx="2585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Khả năng xuất báo cáo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298485" y="4645152"/>
            <a:ext cx="305196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2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báo cáo tồn kho/SX/truy xuất khi cần đối chiếu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98485" y="5303520"/>
            <a:ext cx="305196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trực tiếp từ trình duyệt cho lệnh &amp; hồ sơ lô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18585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931920"/>
            <a:ext cx="4937760" cy="4937760"/>
          </a:xfrm>
          <a:prstGeom prst="ellipse">
            <a:avLst/>
          </a:prstGeom>
          <a:solidFill>
            <a:srgbClr val="161D4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00977" y="2892345"/>
            <a:ext cx="26908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!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914400" y="580644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!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1868</Words>
  <Application>Microsoft Office PowerPoint</Application>
  <PresentationFormat>Widescreen</PresentationFormat>
  <Paragraphs>285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Hoàng Văn Dương</cp:lastModifiedBy>
  <cp:revision>16</cp:revision>
  <dcterms:created xsi:type="dcterms:W3CDTF">2026-07-30T16:14:43Z</dcterms:created>
  <dcterms:modified xsi:type="dcterms:W3CDTF">2026-07-31T02:05:55Z</dcterms:modified>
</cp:coreProperties>
</file>